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9"/>
  </p:notesMasterIdLst>
  <p:sldIdLst>
    <p:sldId id="351" r:id="rId2"/>
    <p:sldId id="280" r:id="rId3"/>
    <p:sldId id="348" r:id="rId4"/>
    <p:sldId id="346" r:id="rId5"/>
    <p:sldId id="347" r:id="rId6"/>
    <p:sldId id="349" r:id="rId7"/>
    <p:sldId id="282" r:id="rId8"/>
    <p:sldId id="284" r:id="rId9"/>
    <p:sldId id="285" r:id="rId10"/>
    <p:sldId id="321" r:id="rId11"/>
    <p:sldId id="323" r:id="rId12"/>
    <p:sldId id="324" r:id="rId13"/>
    <p:sldId id="325" r:id="rId14"/>
    <p:sldId id="326" r:id="rId15"/>
    <p:sldId id="327" r:id="rId16"/>
    <p:sldId id="333" r:id="rId17"/>
    <p:sldId id="334" r:id="rId18"/>
    <p:sldId id="335" r:id="rId19"/>
    <p:sldId id="336" r:id="rId20"/>
    <p:sldId id="337" r:id="rId21"/>
    <p:sldId id="372" r:id="rId22"/>
    <p:sldId id="338" r:id="rId23"/>
    <p:sldId id="374" r:id="rId24"/>
    <p:sldId id="355" r:id="rId25"/>
    <p:sldId id="356" r:id="rId26"/>
    <p:sldId id="357" r:id="rId27"/>
    <p:sldId id="358" r:id="rId28"/>
    <p:sldId id="359" r:id="rId29"/>
    <p:sldId id="375" r:id="rId30"/>
    <p:sldId id="376" r:id="rId31"/>
    <p:sldId id="341" r:id="rId32"/>
    <p:sldId id="344" r:id="rId33"/>
    <p:sldId id="343" r:id="rId34"/>
    <p:sldId id="363" r:id="rId35"/>
    <p:sldId id="373" r:id="rId36"/>
    <p:sldId id="365" r:id="rId37"/>
    <p:sldId id="382" r:id="rId38"/>
    <p:sldId id="383" r:id="rId39"/>
    <p:sldId id="368" r:id="rId40"/>
    <p:sldId id="369" r:id="rId41"/>
    <p:sldId id="370" r:id="rId42"/>
    <p:sldId id="371" r:id="rId43"/>
    <p:sldId id="377" r:id="rId44"/>
    <p:sldId id="378" r:id="rId45"/>
    <p:sldId id="380" r:id="rId46"/>
    <p:sldId id="379" r:id="rId47"/>
    <p:sldId id="381"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495E"/>
    <a:srgbClr val="FF6702"/>
    <a:srgbClr val="E40524"/>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2" autoAdjust="0"/>
    <p:restoredTop sz="94660"/>
  </p:normalViewPr>
  <p:slideViewPr>
    <p:cSldViewPr>
      <p:cViewPr varScale="1">
        <p:scale>
          <a:sx n="82" d="100"/>
          <a:sy n="82" d="100"/>
        </p:scale>
        <p:origin x="1411" y="5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1/2/2021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a:t>
            </a:fld>
            <a:endParaRPr lang="en-US"/>
          </a:p>
        </p:txBody>
      </p:sp>
    </p:spTree>
    <p:extLst>
      <p:ext uri="{BB962C8B-B14F-4D97-AF65-F5344CB8AC3E}">
        <p14:creationId xmlns:p14="http://schemas.microsoft.com/office/powerpoint/2010/main" val="2263384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39036491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4492314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449231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4492314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4492314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22775043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noChangeAspect="1"/>
          </p:cNvSpPr>
          <p:nvPr>
            <p:ph type="title"/>
          </p:nvPr>
        </p:nvSpPr>
        <p:spPr>
          <a:xfrm>
            <a:off x="190500" y="-46037"/>
            <a:ext cx="8763000" cy="808037"/>
          </a:xfrm>
        </p:spPr>
        <p:txBody>
          <a:bodyPr wrap="none">
            <a:normAutofit/>
          </a:bodyPr>
          <a:lstStyle>
            <a:lvl1pPr algn="l">
              <a:defRPr sz="4400" b="0">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734704"/>
            <a:ext cx="8763000" cy="5638800"/>
          </a:xfrm>
        </p:spPr>
        <p:txBody>
          <a:bodyPr>
            <a:noAutofit/>
          </a:bodyPr>
          <a:lstStyle>
            <a:lvl1pPr marL="342900" indent="-342900" algn="just">
              <a:lnSpc>
                <a:spcPct val="114000"/>
              </a:lnSpc>
              <a:buClr>
                <a:schemeClr val="tx1"/>
              </a:buClr>
              <a:buFont typeface="Wingdings" pitchFamily="2" charset="2"/>
              <a:buChar char="§"/>
              <a:defRPr sz="2400" b="0">
                <a:solidFill>
                  <a:schemeClr val="tx1"/>
                </a:solidFill>
                <a:latin typeface="+mj-lt"/>
                <a:ea typeface="Times New Roman" panose="02020603050405020304" pitchFamily="18" charset="0"/>
                <a:cs typeface="Times New Roman" panose="02020603050405020304" pitchFamily="18" charset="0"/>
              </a:defRPr>
            </a:lvl1pPr>
            <a:lvl2pPr marL="742950" indent="-285750" algn="just">
              <a:lnSpc>
                <a:spcPct val="114000"/>
              </a:lnSpc>
              <a:buClr>
                <a:srgbClr val="002060"/>
              </a:buClr>
              <a:buFont typeface="Arial" pitchFamily="34" charset="0"/>
              <a:buChar char="•"/>
              <a:defRPr sz="2200">
                <a:solidFill>
                  <a:srgbClr val="002060"/>
                </a:solidFill>
                <a:latin typeface="+mj-lt"/>
                <a:ea typeface="Times New Roman" panose="02020603050405020304" pitchFamily="18" charset="0"/>
                <a:cs typeface="Times New Roman" panose="02020603050405020304" pitchFamily="18" charset="0"/>
              </a:defRPr>
            </a:lvl2pPr>
            <a:lvl3pPr marL="1143000" indent="-228600" algn="just">
              <a:lnSpc>
                <a:spcPct val="114000"/>
              </a:lnSpc>
              <a:buClr>
                <a:schemeClr val="tx1"/>
              </a:buClr>
              <a:buFont typeface="Courier New" pitchFamily="49" charset="0"/>
              <a:buChar char="o"/>
              <a:defRPr sz="2000">
                <a:latin typeface="+mj-lt"/>
                <a:ea typeface="Times New Roman" panose="02020603050405020304" pitchFamily="18" charset="0"/>
                <a:cs typeface="Times New Roman" panose="02020603050405020304" pitchFamily="18" charset="0"/>
              </a:defRPr>
            </a:lvl3pPr>
            <a:lvl4pPr algn="just">
              <a:lnSpc>
                <a:spcPct val="114000"/>
              </a:lnSpc>
              <a:buClr>
                <a:srgbClr val="002060"/>
              </a:buClr>
              <a:defRPr sz="1800">
                <a:solidFill>
                  <a:srgbClr val="002060"/>
                </a:solidFill>
                <a:latin typeface="+mj-lt"/>
                <a:ea typeface="Times New Roman" panose="02020603050405020304" pitchFamily="18" charset="0"/>
                <a:cs typeface="Times New Roman" panose="02020603050405020304" pitchFamily="18" charset="0"/>
              </a:defRPr>
            </a:lvl4pPr>
            <a:lvl5pPr algn="just">
              <a:lnSpc>
                <a:spcPct val="114000"/>
              </a:lnSpc>
              <a:buClr>
                <a:schemeClr val="tx1"/>
              </a:buClr>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9144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defRPr/>
            </a:pPr>
            <a:r>
              <a:rPr lang="da-DK" sz="1800" noProof="1">
                <a:solidFill>
                  <a:srgbClr val="FFFFFF"/>
                </a:solidFill>
                <a:latin typeface="+mj-lt"/>
                <a:ea typeface="Open Sans" panose="020B0606030504020204" pitchFamily="34" charset="0"/>
                <a:cs typeface="Open Sans" panose="020B0606030504020204" pitchFamily="34" charset="0"/>
              </a:rPr>
              <a:t>Unit-</a:t>
            </a:r>
            <a:r>
              <a:rPr lang="en-IN" sz="1800" noProof="1">
                <a:solidFill>
                  <a:srgbClr val="FFFFFF"/>
                </a:solidFill>
                <a:latin typeface="+mj-lt"/>
                <a:ea typeface="Open Sans" panose="020B0606030504020204" pitchFamily="34" charset="0"/>
                <a:cs typeface="Open Sans" panose="020B0606030504020204" pitchFamily="34" charset="0"/>
              </a:rPr>
              <a:t>2 Agile Development				</a:t>
            </a:r>
            <a:r>
              <a:rPr lang="da-DK" sz="1800" baseline="0" noProof="1">
                <a:solidFill>
                  <a:srgbClr val="FFFFFF"/>
                </a:solidFill>
                <a:latin typeface="+mj-lt"/>
                <a:ea typeface="Open Sans" panose="020B0606030504020204" pitchFamily="34" charset="0"/>
                <a:cs typeface="Open Sans" panose="020B0606030504020204" pitchFamily="34" charset="0"/>
              </a:rPr>
              <a:t>      </a:t>
            </a:r>
            <a:r>
              <a:rPr lang="da-DK" sz="1800" noProof="1">
                <a:solidFill>
                  <a:srgbClr val="FFFFFF"/>
                </a:solidFill>
                <a:latin typeface="+mj-lt"/>
                <a:ea typeface="Open Sans" panose="020B0606030504020204" pitchFamily="34" charset="0"/>
                <a:cs typeface="Open Sans" panose="020B0606030504020204" pitchFamily="34" charset="0"/>
              </a:rPr>
              <a:t>Darshan Institute of Engg. &amp; Tech.</a:t>
            </a:r>
          </a:p>
        </p:txBody>
      </p:sp>
      <p:cxnSp>
        <p:nvCxnSpPr>
          <p:cNvPr id="6" name="Straight Connector 5"/>
          <p:cNvCxnSpPr/>
          <p:nvPr userDrawn="1"/>
        </p:nvCxnSpPr>
        <p:spPr>
          <a:xfrm>
            <a:off x="190500" y="6858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5"/>
          <p:cNvSpPr>
            <a:spLocks noGrp="1"/>
          </p:cNvSpPr>
          <p:nvPr>
            <p:ph type="sldNum" sz="quarter" idx="12"/>
          </p:nvPr>
        </p:nvSpPr>
        <p:spPr>
          <a:xfrm>
            <a:off x="7010400" y="6096000"/>
            <a:ext cx="2133600" cy="365125"/>
          </a:xfrm>
        </p:spPr>
        <p:txBody>
          <a:bodyPr/>
          <a:lstStyle>
            <a:lvl1pPr>
              <a:defRPr sz="1400"/>
            </a:lvl1pPr>
          </a:lstStyle>
          <a:p>
            <a:fld id="{5EA8BEFB-AE5B-48F9-BBAD-B489CDE48C80}" type="slidenum">
              <a:rPr lang="en-US" smtClean="0"/>
              <a:pPr/>
              <a:t>‹#›</a:t>
            </a:fld>
            <a:endParaRPr lang="en-US" dirty="0"/>
          </a:p>
        </p:txBody>
      </p:sp>
    </p:spTree>
    <p:extLst>
      <p:ext uri="{BB962C8B-B14F-4D97-AF65-F5344CB8AC3E}">
        <p14:creationId xmlns:p14="http://schemas.microsoft.com/office/powerpoint/2010/main" val="2857343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4"/>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4"/>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1"/>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5"/>
          <p:cNvSpPr/>
          <p:nvPr/>
        </p:nvSpPr>
        <p:spPr>
          <a:xfrm>
            <a:off x="0" y="0"/>
            <a:ext cx="9144000" cy="4038600"/>
          </a:xfrm>
          <a:prstGeom prst="rect">
            <a:avLst/>
          </a:prstGeom>
          <a:solidFill>
            <a:srgbClr val="3449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ctrTitle"/>
          </p:nvPr>
        </p:nvSpPr>
        <p:spPr>
          <a:xfrm>
            <a:off x="304800" y="1295399"/>
            <a:ext cx="8839200" cy="2743201"/>
          </a:xfrm>
        </p:spPr>
        <p:txBody>
          <a:bodyPr anchor="b">
            <a:noAutofit/>
          </a:bodyPr>
          <a:lstStyle/>
          <a:p>
            <a:pPr algn="l"/>
            <a:r>
              <a:rPr lang="en-US" b="1" dirty="0">
                <a:solidFill>
                  <a:schemeClr val="bg1"/>
                </a:solidFill>
                <a:ea typeface="Open Sans Semibold" panose="020B0706030804020204" pitchFamily="34" charset="0"/>
                <a:cs typeface="Open Sans Semibold" panose="020B0706030804020204" pitchFamily="34" charset="0"/>
              </a:rPr>
              <a:t>Unit-2</a:t>
            </a:r>
            <a:br>
              <a:rPr lang="en-US" b="1" dirty="0">
                <a:solidFill>
                  <a:schemeClr val="bg1"/>
                </a:solidFill>
                <a:ea typeface="Open Sans Semibold" panose="020B0706030804020204" pitchFamily="34" charset="0"/>
                <a:cs typeface="Open Sans Semibold" panose="020B0706030804020204" pitchFamily="34" charset="0"/>
              </a:rPr>
            </a:br>
            <a:r>
              <a:rPr lang="en-US" b="1" dirty="0">
                <a:solidFill>
                  <a:schemeClr val="bg1"/>
                </a:solidFill>
                <a:ea typeface="Open Sans Semibold" panose="020B0706030804020204" pitchFamily="34" charset="0"/>
                <a:cs typeface="Open Sans Semibold" panose="020B0706030804020204" pitchFamily="34" charset="0"/>
              </a:rPr>
              <a:t>Agile Development</a:t>
            </a:r>
            <a:endParaRPr lang="en-US" sz="3600" b="1" dirty="0">
              <a:solidFill>
                <a:schemeClr val="bg1"/>
              </a:solidFill>
              <a:latin typeface="+mj-lt"/>
              <a:ea typeface="Open Sans Semibold" panose="020B0706030804020204" pitchFamily="34" charset="0"/>
              <a:cs typeface="Open Sans Semibold" panose="020B0706030804020204" pitchFamily="34" charset="0"/>
            </a:endParaRPr>
          </a:p>
        </p:txBody>
      </p:sp>
      <p:sp>
        <p:nvSpPr>
          <p:cNvPr id="10" name="Rounded Rectangle 9"/>
          <p:cNvSpPr/>
          <p:nvPr/>
        </p:nvSpPr>
        <p:spPr>
          <a:xfrm>
            <a:off x="3325654" y="576262"/>
            <a:ext cx="1219200" cy="38100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lvl="0" algn="ctr"/>
            <a:r>
              <a:rPr lang="en-US" sz="2000" dirty="0">
                <a:solidFill>
                  <a:prstClr val="white"/>
                </a:solidFill>
              </a:rPr>
              <a:t>2160701</a:t>
            </a:r>
          </a:p>
        </p:txBody>
      </p:sp>
      <p:sp>
        <p:nvSpPr>
          <p:cNvPr id="11" name="Rounded Rectangle 10"/>
          <p:cNvSpPr/>
          <p:nvPr/>
        </p:nvSpPr>
        <p:spPr>
          <a:xfrm>
            <a:off x="228600" y="576262"/>
            <a:ext cx="2944654" cy="38100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lvl="0" algn="ctr"/>
            <a:r>
              <a:rPr lang="en-US" sz="2000" dirty="0">
                <a:solidFill>
                  <a:prstClr val="white"/>
                </a:solidFill>
              </a:rPr>
              <a:t>SOFTWARE ENGINEERING</a:t>
            </a:r>
          </a:p>
        </p:txBody>
      </p:sp>
      <p:pic>
        <p:nvPicPr>
          <p:cNvPr id="1026" name="Picture 2" descr="Image result for software engineer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88361" y="289861"/>
            <a:ext cx="2752039" cy="1310339"/>
          </a:xfrm>
          <a:prstGeom prst="rect">
            <a:avLst/>
          </a:prstGeom>
          <a:effectLst>
            <a:outerShdw blurRad="50800" dist="38100" dir="5400000" algn="t" rotWithShape="0">
              <a:prstClr val="black">
                <a:alpha val="40000"/>
              </a:prstClr>
            </a:outerShdw>
            <a:reflection blurRad="6350" stA="52000" endA="300" endPos="3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91892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Outlines</a:t>
            </a:r>
            <a:endParaRPr lang="en-IN" dirty="0"/>
          </a:p>
        </p:txBody>
      </p:sp>
      <p:sp>
        <p:nvSpPr>
          <p:cNvPr id="3" name="Content Placeholder 2"/>
          <p:cNvSpPr>
            <a:spLocks noGrp="1"/>
          </p:cNvSpPr>
          <p:nvPr>
            <p:ph idx="1"/>
          </p:nvPr>
        </p:nvSpPr>
        <p:spPr/>
        <p:txBody>
          <a:bodyPr/>
          <a:lstStyle/>
          <a:p>
            <a:r>
              <a:rPr lang="en-IN" dirty="0"/>
              <a:t>Agility and Agile Process Model</a:t>
            </a:r>
          </a:p>
          <a:p>
            <a:r>
              <a:rPr lang="en-IN" dirty="0"/>
              <a:t>Extreme Programming</a:t>
            </a:r>
          </a:p>
          <a:p>
            <a:r>
              <a:rPr lang="en-IN" dirty="0"/>
              <a:t>Other Process Model of Agile Development and Tools</a:t>
            </a:r>
          </a:p>
        </p:txBody>
      </p:sp>
      <p:sp>
        <p:nvSpPr>
          <p:cNvPr id="4" name="Slide Number Placeholder 3"/>
          <p:cNvSpPr>
            <a:spLocks noGrp="1"/>
          </p:cNvSpPr>
          <p:nvPr>
            <p:ph type="sldNum" sz="quarter" idx="12"/>
          </p:nvPr>
        </p:nvSpPr>
        <p:spPr/>
        <p:txBody>
          <a:bodyPr/>
          <a:lstStyle/>
          <a:p>
            <a:fld id="{5EA8BEFB-AE5B-48F9-BBAD-B489CDE48C80}" type="slidenum">
              <a:rPr lang="en-US" smtClean="0"/>
              <a:pPr/>
              <a:t>2</a:t>
            </a:fld>
            <a:endParaRPr lang="en-US"/>
          </a:p>
        </p:txBody>
      </p:sp>
    </p:spTree>
    <p:extLst>
      <p:ext uri="{BB962C8B-B14F-4D97-AF65-F5344CB8AC3E}">
        <p14:creationId xmlns:p14="http://schemas.microsoft.com/office/powerpoint/2010/main" val="3975442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Agility?</a:t>
            </a:r>
          </a:p>
        </p:txBody>
      </p:sp>
      <p:sp>
        <p:nvSpPr>
          <p:cNvPr id="3" name="Content Placeholder 2"/>
          <p:cNvSpPr>
            <a:spLocks noGrp="1"/>
          </p:cNvSpPr>
          <p:nvPr>
            <p:ph idx="1"/>
          </p:nvPr>
        </p:nvSpPr>
        <p:spPr/>
        <p:txBody>
          <a:bodyPr/>
          <a:lstStyle/>
          <a:p>
            <a:r>
              <a:rPr lang="en-IN"/>
              <a:t>Effective response to change</a:t>
            </a:r>
            <a:endParaRPr lang="en-IN" dirty="0"/>
          </a:p>
        </p:txBody>
      </p:sp>
      <p:sp>
        <p:nvSpPr>
          <p:cNvPr id="10" name="Slide Number Placeholder 9"/>
          <p:cNvSpPr>
            <a:spLocks noGrp="1"/>
          </p:cNvSpPr>
          <p:nvPr>
            <p:ph type="sldNum" sz="quarter" idx="12"/>
          </p:nvPr>
        </p:nvSpPr>
        <p:spPr/>
        <p:txBody>
          <a:bodyPr/>
          <a:lstStyle/>
          <a:p>
            <a:fld id="{5EA8BEFB-AE5B-48F9-BBAD-B489CDE48C80}" type="slidenum">
              <a:rPr lang="en-US" smtClean="0"/>
              <a:pPr/>
              <a:t>3</a:t>
            </a:fld>
            <a:endParaRPr lang="en-US"/>
          </a:p>
        </p:txBody>
      </p:sp>
      <p:sp>
        <p:nvSpPr>
          <p:cNvPr id="4" name="TextBox 3"/>
          <p:cNvSpPr txBox="1"/>
          <p:nvPr/>
        </p:nvSpPr>
        <p:spPr>
          <a:xfrm>
            <a:off x="2438402" y="3200400"/>
            <a:ext cx="1983745" cy="707886"/>
          </a:xfrm>
          <a:prstGeom prst="rect">
            <a:avLst/>
          </a:prstGeom>
          <a:noFill/>
        </p:spPr>
        <p:txBody>
          <a:bodyPr wrap="square" rtlCol="0">
            <a:spAutoFit/>
          </a:bodyPr>
          <a:lstStyle/>
          <a:p>
            <a:pPr algn="ctr"/>
            <a:r>
              <a:rPr lang="en-IN" sz="2000" b="1" dirty="0">
                <a:solidFill>
                  <a:schemeClr val="bg1"/>
                </a:solidFill>
              </a:rPr>
              <a:t>Current Functionality</a:t>
            </a:r>
          </a:p>
        </p:txBody>
      </p:sp>
      <p:sp>
        <p:nvSpPr>
          <p:cNvPr id="6" name="TextBox 5"/>
          <p:cNvSpPr txBox="1"/>
          <p:nvPr/>
        </p:nvSpPr>
        <p:spPr>
          <a:xfrm>
            <a:off x="5029202" y="2819400"/>
            <a:ext cx="1983745" cy="707886"/>
          </a:xfrm>
          <a:prstGeom prst="rect">
            <a:avLst/>
          </a:prstGeom>
          <a:noFill/>
        </p:spPr>
        <p:txBody>
          <a:bodyPr wrap="square" rtlCol="0">
            <a:spAutoFit/>
          </a:bodyPr>
          <a:lstStyle/>
          <a:p>
            <a:pPr algn="ctr"/>
            <a:r>
              <a:rPr lang="en-IN" sz="2000" b="1" dirty="0">
                <a:solidFill>
                  <a:schemeClr val="bg1"/>
                </a:solidFill>
              </a:rPr>
              <a:t>Change </a:t>
            </a:r>
          </a:p>
          <a:p>
            <a:pPr algn="ctr"/>
            <a:r>
              <a:rPr lang="en-IN" sz="2000" b="1" dirty="0">
                <a:solidFill>
                  <a:schemeClr val="bg1"/>
                </a:solidFill>
              </a:rPr>
              <a:t>Request</a:t>
            </a:r>
          </a:p>
        </p:txBody>
      </p:sp>
      <p:grpSp>
        <p:nvGrpSpPr>
          <p:cNvPr id="14" name="Group 13"/>
          <p:cNvGrpSpPr/>
          <p:nvPr/>
        </p:nvGrpSpPr>
        <p:grpSpPr>
          <a:xfrm>
            <a:off x="582304" y="1447800"/>
            <a:ext cx="8001000" cy="4495800"/>
            <a:chOff x="582304" y="1676400"/>
            <a:chExt cx="8001000" cy="4495800"/>
          </a:xfrm>
        </p:grpSpPr>
        <p:pic>
          <p:nvPicPr>
            <p:cNvPr id="5" name="Picture 2" descr="Image result for effective communic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304" y="1676400"/>
              <a:ext cx="8001000" cy="44958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2205672" y="3940314"/>
              <a:ext cx="1955805" cy="707886"/>
            </a:xfrm>
            <a:prstGeom prst="rect">
              <a:avLst/>
            </a:prstGeom>
            <a:noFill/>
          </p:spPr>
          <p:txBody>
            <a:bodyPr wrap="square" rtlCol="0">
              <a:spAutoFit/>
            </a:bodyPr>
            <a:lstStyle/>
            <a:p>
              <a:pPr algn="ctr"/>
              <a:r>
                <a:rPr lang="en-IN" sz="2000" b="1" dirty="0">
                  <a:solidFill>
                    <a:schemeClr val="bg1"/>
                  </a:solidFill>
                </a:rPr>
                <a:t>Current Functionality</a:t>
              </a:r>
            </a:p>
          </p:txBody>
        </p:sp>
        <p:sp>
          <p:nvSpPr>
            <p:cNvPr id="9" name="TextBox 8"/>
            <p:cNvSpPr txBox="1"/>
            <p:nvPr/>
          </p:nvSpPr>
          <p:spPr>
            <a:xfrm>
              <a:off x="5087402" y="3527400"/>
              <a:ext cx="1955805" cy="707886"/>
            </a:xfrm>
            <a:prstGeom prst="rect">
              <a:avLst/>
            </a:prstGeom>
            <a:noFill/>
          </p:spPr>
          <p:txBody>
            <a:bodyPr wrap="square" rtlCol="0">
              <a:spAutoFit/>
            </a:bodyPr>
            <a:lstStyle/>
            <a:p>
              <a:pPr algn="ctr"/>
              <a:r>
                <a:rPr lang="en-IN" sz="2000" b="1" dirty="0">
                  <a:solidFill>
                    <a:schemeClr val="bg1"/>
                  </a:solidFill>
                </a:rPr>
                <a:t>Change </a:t>
              </a:r>
            </a:p>
            <a:p>
              <a:pPr algn="ctr"/>
              <a:r>
                <a:rPr lang="en-IN" sz="2000" b="1" dirty="0">
                  <a:solidFill>
                    <a:schemeClr val="bg1"/>
                  </a:solidFill>
                </a:rPr>
                <a:t>Request</a:t>
              </a:r>
            </a:p>
          </p:txBody>
        </p:sp>
      </p:grpSp>
      <p:sp>
        <p:nvSpPr>
          <p:cNvPr id="7" name="TextBox 6"/>
          <p:cNvSpPr txBox="1"/>
          <p:nvPr/>
        </p:nvSpPr>
        <p:spPr>
          <a:xfrm>
            <a:off x="609600" y="6066724"/>
            <a:ext cx="7973704" cy="369332"/>
          </a:xfrm>
          <a:prstGeom prst="rect">
            <a:avLst/>
          </a:prstGeom>
          <a:noFill/>
        </p:spPr>
        <p:txBody>
          <a:bodyPr wrap="square" rtlCol="0">
            <a:spAutoFit/>
          </a:bodyPr>
          <a:lstStyle/>
          <a:p>
            <a:pPr algn="ctr"/>
            <a:r>
              <a:rPr lang="en-IN" dirty="0">
                <a:solidFill>
                  <a:schemeClr val="bg1">
                    <a:lumMod val="50000"/>
                  </a:schemeClr>
                </a:solidFill>
              </a:rPr>
              <a:t>© randomactsofleadership.com</a:t>
            </a:r>
          </a:p>
        </p:txBody>
      </p:sp>
    </p:spTree>
    <p:extLst>
      <p:ext uri="{BB962C8B-B14F-4D97-AF65-F5344CB8AC3E}">
        <p14:creationId xmlns:p14="http://schemas.microsoft.com/office/powerpoint/2010/main" val="1704287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2" name="Picture 4" descr="Image result for effective communication clipar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295400"/>
            <a:ext cx="5943600" cy="44577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IN"/>
              <a:t>What is Agility? (Cont…)</a:t>
            </a:r>
            <a:endParaRPr lang="en-IN" dirty="0"/>
          </a:p>
        </p:txBody>
      </p:sp>
      <p:sp>
        <p:nvSpPr>
          <p:cNvPr id="3" name="Content Placeholder 2"/>
          <p:cNvSpPr>
            <a:spLocks noGrp="1"/>
          </p:cNvSpPr>
          <p:nvPr>
            <p:ph idx="1"/>
          </p:nvPr>
        </p:nvSpPr>
        <p:spPr/>
        <p:txBody>
          <a:bodyPr/>
          <a:lstStyle/>
          <a:p>
            <a:r>
              <a:rPr lang="en-IN"/>
              <a:t>Effective communication among all stakeholders</a:t>
            </a:r>
            <a:endParaRPr lang="en-IN" dirty="0"/>
          </a:p>
        </p:txBody>
      </p:sp>
      <p:sp>
        <p:nvSpPr>
          <p:cNvPr id="4" name="Slide Number Placeholder 3"/>
          <p:cNvSpPr>
            <a:spLocks noGrp="1"/>
          </p:cNvSpPr>
          <p:nvPr>
            <p:ph type="sldNum" sz="quarter" idx="12"/>
          </p:nvPr>
        </p:nvSpPr>
        <p:spPr/>
        <p:txBody>
          <a:bodyPr/>
          <a:lstStyle/>
          <a:p>
            <a:fld id="{5EA8BEFB-AE5B-48F9-BBAD-B489CDE48C80}" type="slidenum">
              <a:rPr lang="en-US" smtClean="0"/>
              <a:pPr/>
              <a:t>4</a:t>
            </a:fld>
            <a:endParaRPr lang="en-US"/>
          </a:p>
        </p:txBody>
      </p:sp>
      <p:sp>
        <p:nvSpPr>
          <p:cNvPr id="6" name="TextBox 5"/>
          <p:cNvSpPr txBox="1"/>
          <p:nvPr/>
        </p:nvSpPr>
        <p:spPr>
          <a:xfrm>
            <a:off x="2167054" y="6019800"/>
            <a:ext cx="4962297" cy="369332"/>
          </a:xfrm>
          <a:prstGeom prst="rect">
            <a:avLst/>
          </a:prstGeom>
          <a:noFill/>
        </p:spPr>
        <p:txBody>
          <a:bodyPr wrap="square" rtlCol="0">
            <a:spAutoFit/>
          </a:bodyPr>
          <a:lstStyle/>
          <a:p>
            <a:pPr algn="ctr"/>
            <a:r>
              <a:rPr lang="en-IN" dirty="0">
                <a:solidFill>
                  <a:schemeClr val="bg1">
                    <a:lumMod val="50000"/>
                  </a:schemeClr>
                </a:solidFill>
              </a:rPr>
              <a:t>© www.clipartkid.com</a:t>
            </a:r>
          </a:p>
        </p:txBody>
      </p:sp>
    </p:spTree>
    <p:extLst>
      <p:ext uri="{BB962C8B-B14F-4D97-AF65-F5344CB8AC3E}">
        <p14:creationId xmlns:p14="http://schemas.microsoft.com/office/powerpoint/2010/main" val="1721699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What is Agility? (Cont…)</a:t>
            </a:r>
            <a:endParaRPr lang="en-IN" dirty="0"/>
          </a:p>
        </p:txBody>
      </p:sp>
      <p:sp>
        <p:nvSpPr>
          <p:cNvPr id="3" name="Content Placeholder 2"/>
          <p:cNvSpPr>
            <a:spLocks noGrp="1"/>
          </p:cNvSpPr>
          <p:nvPr>
            <p:ph idx="1"/>
          </p:nvPr>
        </p:nvSpPr>
        <p:spPr/>
        <p:txBody>
          <a:bodyPr/>
          <a:lstStyle/>
          <a:p>
            <a:r>
              <a:rPr lang="en-IN" dirty="0"/>
              <a:t>Drawing the customer onto the team</a:t>
            </a:r>
          </a:p>
          <a:p>
            <a:r>
              <a:rPr lang="en-IN" dirty="0"/>
              <a:t>Eliminate the “us and them” attitude</a:t>
            </a:r>
          </a:p>
        </p:txBody>
      </p:sp>
      <p:sp>
        <p:nvSpPr>
          <p:cNvPr id="4" name="Slide Number Placeholder 3"/>
          <p:cNvSpPr>
            <a:spLocks noGrp="1"/>
          </p:cNvSpPr>
          <p:nvPr>
            <p:ph type="sldNum" sz="quarter" idx="12"/>
          </p:nvPr>
        </p:nvSpPr>
        <p:spPr/>
        <p:txBody>
          <a:bodyPr/>
          <a:lstStyle/>
          <a:p>
            <a:fld id="{5EA8BEFB-AE5B-48F9-BBAD-B489CDE48C80}" type="slidenum">
              <a:rPr lang="en-US" smtClean="0"/>
              <a:pPr/>
              <a:t>5</a:t>
            </a:fld>
            <a:endParaRPr lang="en-US"/>
          </a:p>
        </p:txBody>
      </p:sp>
      <p:grpSp>
        <p:nvGrpSpPr>
          <p:cNvPr id="11" name="Group 10"/>
          <p:cNvGrpSpPr/>
          <p:nvPr/>
        </p:nvGrpSpPr>
        <p:grpSpPr>
          <a:xfrm>
            <a:off x="1981200" y="1905000"/>
            <a:ext cx="5105400" cy="3912098"/>
            <a:chOff x="1981200" y="2362200"/>
            <a:chExt cx="5105400" cy="3912098"/>
          </a:xfrm>
        </p:grpSpPr>
        <p:pic>
          <p:nvPicPr>
            <p:cNvPr id="3074" name="Picture 2" descr="Image result for customer in tea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81200" y="2362200"/>
              <a:ext cx="5105400" cy="391209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626836" y="2438400"/>
              <a:ext cx="3814128" cy="400110"/>
            </a:xfrm>
            <a:prstGeom prst="rect">
              <a:avLst/>
            </a:prstGeom>
            <a:noFill/>
          </p:spPr>
          <p:txBody>
            <a:bodyPr wrap="square" rtlCol="0">
              <a:spAutoFit/>
            </a:bodyPr>
            <a:lstStyle/>
            <a:p>
              <a:pPr algn="ctr"/>
              <a:r>
                <a:rPr lang="en-IN" sz="2000" b="1" dirty="0">
                  <a:solidFill>
                    <a:schemeClr val="tx1">
                      <a:lumMod val="50000"/>
                      <a:lumOff val="50000"/>
                    </a:schemeClr>
                  </a:solidFill>
                </a:rPr>
                <a:t>Software Development Team</a:t>
              </a:r>
            </a:p>
          </p:txBody>
        </p:sp>
        <p:sp>
          <p:nvSpPr>
            <p:cNvPr id="6" name="TextBox 5"/>
            <p:cNvSpPr txBox="1"/>
            <p:nvPr/>
          </p:nvSpPr>
          <p:spPr>
            <a:xfrm>
              <a:off x="2545728" y="5791200"/>
              <a:ext cx="3814128" cy="400110"/>
            </a:xfrm>
            <a:prstGeom prst="rect">
              <a:avLst/>
            </a:prstGeom>
            <a:noFill/>
          </p:spPr>
          <p:txBody>
            <a:bodyPr wrap="square" rtlCol="0">
              <a:spAutoFit/>
            </a:bodyPr>
            <a:lstStyle/>
            <a:p>
              <a:pPr algn="ctr"/>
              <a:r>
                <a:rPr lang="en-IN" sz="2000" b="1" dirty="0">
                  <a:solidFill>
                    <a:srgbClr val="C00000"/>
                  </a:solidFill>
                </a:rPr>
                <a:t>Customer</a:t>
              </a:r>
            </a:p>
          </p:txBody>
        </p:sp>
      </p:grpSp>
      <p:sp>
        <p:nvSpPr>
          <p:cNvPr id="7" name="TextBox 6"/>
          <p:cNvSpPr txBox="1"/>
          <p:nvPr/>
        </p:nvSpPr>
        <p:spPr>
          <a:xfrm>
            <a:off x="2167054" y="6107668"/>
            <a:ext cx="4962297" cy="369332"/>
          </a:xfrm>
          <a:prstGeom prst="rect">
            <a:avLst/>
          </a:prstGeom>
          <a:noFill/>
        </p:spPr>
        <p:txBody>
          <a:bodyPr wrap="square" rtlCol="0">
            <a:spAutoFit/>
          </a:bodyPr>
          <a:lstStyle/>
          <a:p>
            <a:pPr algn="ctr"/>
            <a:r>
              <a:rPr lang="en-IN" dirty="0">
                <a:solidFill>
                  <a:schemeClr val="bg1">
                    <a:lumMod val="50000"/>
                  </a:schemeClr>
                </a:solidFill>
              </a:rPr>
              <a:t>© marketculture.files.wordpress.com</a:t>
            </a:r>
          </a:p>
        </p:txBody>
      </p:sp>
    </p:spTree>
    <p:extLst>
      <p:ext uri="{BB962C8B-B14F-4D97-AF65-F5344CB8AC3E}">
        <p14:creationId xmlns:p14="http://schemas.microsoft.com/office/powerpoint/2010/main" val="320824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What is Agility? (Cont…)</a:t>
            </a:r>
            <a:endParaRPr lang="en-IN" dirty="0"/>
          </a:p>
        </p:txBody>
      </p:sp>
      <p:sp>
        <p:nvSpPr>
          <p:cNvPr id="3" name="Content Placeholder 2"/>
          <p:cNvSpPr>
            <a:spLocks noGrp="1"/>
          </p:cNvSpPr>
          <p:nvPr>
            <p:ph idx="1"/>
          </p:nvPr>
        </p:nvSpPr>
        <p:spPr/>
        <p:txBody>
          <a:bodyPr/>
          <a:lstStyle/>
          <a:p>
            <a:r>
              <a:rPr lang="en-IN"/>
              <a:t>Organizing a team so that it is in control to perform the work</a:t>
            </a:r>
            <a:endParaRPr lang="en-IN" dirty="0"/>
          </a:p>
        </p:txBody>
      </p:sp>
      <p:sp>
        <p:nvSpPr>
          <p:cNvPr id="4" name="Slide Number Placeholder 3"/>
          <p:cNvSpPr>
            <a:spLocks noGrp="1"/>
          </p:cNvSpPr>
          <p:nvPr>
            <p:ph type="sldNum" sz="quarter" idx="12"/>
          </p:nvPr>
        </p:nvSpPr>
        <p:spPr/>
        <p:txBody>
          <a:bodyPr/>
          <a:lstStyle/>
          <a:p>
            <a:fld id="{5EA8BEFB-AE5B-48F9-BBAD-B489CDE48C80}" type="slidenum">
              <a:rPr lang="en-US" smtClean="0"/>
              <a:pPr/>
              <a:t>6</a:t>
            </a:fld>
            <a:endParaRPr lang="en-US"/>
          </a:p>
        </p:txBody>
      </p:sp>
      <p:sp>
        <p:nvSpPr>
          <p:cNvPr id="5" name="TextBox 4"/>
          <p:cNvSpPr txBox="1"/>
          <p:nvPr/>
        </p:nvSpPr>
        <p:spPr>
          <a:xfrm>
            <a:off x="1471350" y="6107668"/>
            <a:ext cx="4962297" cy="369332"/>
          </a:xfrm>
          <a:prstGeom prst="rect">
            <a:avLst/>
          </a:prstGeom>
          <a:noFill/>
        </p:spPr>
        <p:txBody>
          <a:bodyPr wrap="square" rtlCol="0">
            <a:spAutoFit/>
          </a:bodyPr>
          <a:lstStyle/>
          <a:p>
            <a:pPr algn="ctr"/>
            <a:r>
              <a:rPr lang="en-IN" dirty="0">
                <a:solidFill>
                  <a:schemeClr val="bg1">
                    <a:lumMod val="50000"/>
                  </a:schemeClr>
                </a:solidFill>
              </a:rPr>
              <a:t>© www.eudigital.co</a:t>
            </a:r>
          </a:p>
        </p:txBody>
      </p:sp>
      <p:grpSp>
        <p:nvGrpSpPr>
          <p:cNvPr id="14" name="Group 13"/>
          <p:cNvGrpSpPr/>
          <p:nvPr/>
        </p:nvGrpSpPr>
        <p:grpSpPr>
          <a:xfrm>
            <a:off x="152400" y="1371600"/>
            <a:ext cx="9601200" cy="4429126"/>
            <a:chOff x="381000" y="1895474"/>
            <a:chExt cx="9601200" cy="4429126"/>
          </a:xfrm>
        </p:grpSpPr>
        <p:pic>
          <p:nvPicPr>
            <p:cNvPr id="4098" name="Picture 2" descr="Image result for team organization clipar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895474"/>
              <a:ext cx="7142992" cy="442912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3424872" y="2286000"/>
              <a:ext cx="3814128" cy="400110"/>
            </a:xfrm>
            <a:prstGeom prst="rect">
              <a:avLst/>
            </a:prstGeom>
            <a:noFill/>
          </p:spPr>
          <p:txBody>
            <a:bodyPr wrap="square" rtlCol="0">
              <a:spAutoFit/>
            </a:bodyPr>
            <a:lstStyle/>
            <a:p>
              <a:pPr algn="ctr"/>
              <a:r>
                <a:rPr lang="en-IN" sz="2000" b="1" dirty="0">
                  <a:solidFill>
                    <a:schemeClr val="accent6">
                      <a:lumMod val="75000"/>
                    </a:schemeClr>
                  </a:solidFill>
                </a:rPr>
                <a:t>Top Management</a:t>
              </a:r>
            </a:p>
          </p:txBody>
        </p:sp>
        <p:sp>
          <p:nvSpPr>
            <p:cNvPr id="7" name="TextBox 6"/>
            <p:cNvSpPr txBox="1"/>
            <p:nvPr/>
          </p:nvSpPr>
          <p:spPr>
            <a:xfrm>
              <a:off x="5029200" y="2971800"/>
              <a:ext cx="3814128" cy="400110"/>
            </a:xfrm>
            <a:prstGeom prst="rect">
              <a:avLst/>
            </a:prstGeom>
            <a:noFill/>
          </p:spPr>
          <p:txBody>
            <a:bodyPr wrap="square" rtlCol="0">
              <a:spAutoFit/>
            </a:bodyPr>
            <a:lstStyle/>
            <a:p>
              <a:pPr algn="ctr"/>
              <a:r>
                <a:rPr lang="en-IN" sz="2000" b="1" dirty="0">
                  <a:solidFill>
                    <a:srgbClr val="002060"/>
                  </a:solidFill>
                </a:rPr>
                <a:t>Project Manager</a:t>
              </a:r>
            </a:p>
          </p:txBody>
        </p:sp>
        <p:sp>
          <p:nvSpPr>
            <p:cNvPr id="8" name="TextBox 7"/>
            <p:cNvSpPr txBox="1"/>
            <p:nvPr/>
          </p:nvSpPr>
          <p:spPr>
            <a:xfrm>
              <a:off x="5486400" y="4267200"/>
              <a:ext cx="3814128" cy="400110"/>
            </a:xfrm>
            <a:prstGeom prst="rect">
              <a:avLst/>
            </a:prstGeom>
            <a:noFill/>
          </p:spPr>
          <p:txBody>
            <a:bodyPr wrap="square" rtlCol="0">
              <a:spAutoFit/>
            </a:bodyPr>
            <a:lstStyle/>
            <a:p>
              <a:pPr algn="ctr"/>
              <a:r>
                <a:rPr lang="en-IN" sz="2000" b="1" dirty="0">
                  <a:solidFill>
                    <a:schemeClr val="accent1">
                      <a:lumMod val="75000"/>
                    </a:schemeClr>
                  </a:solidFill>
                </a:rPr>
                <a:t>Team Lead</a:t>
              </a:r>
            </a:p>
          </p:txBody>
        </p:sp>
        <p:sp>
          <p:nvSpPr>
            <p:cNvPr id="9" name="TextBox 8"/>
            <p:cNvSpPr txBox="1"/>
            <p:nvPr/>
          </p:nvSpPr>
          <p:spPr>
            <a:xfrm>
              <a:off x="6168072" y="4876800"/>
              <a:ext cx="3814128" cy="400110"/>
            </a:xfrm>
            <a:prstGeom prst="rect">
              <a:avLst/>
            </a:prstGeom>
            <a:noFill/>
          </p:spPr>
          <p:txBody>
            <a:bodyPr wrap="square" rtlCol="0">
              <a:spAutoFit/>
            </a:bodyPr>
            <a:lstStyle/>
            <a:p>
              <a:pPr algn="ctr"/>
              <a:r>
                <a:rPr lang="en-IN" sz="2000" b="1" dirty="0">
                  <a:solidFill>
                    <a:schemeClr val="tx2">
                      <a:lumMod val="60000"/>
                      <a:lumOff val="40000"/>
                    </a:schemeClr>
                  </a:solidFill>
                </a:rPr>
                <a:t>Senior Developer</a:t>
              </a:r>
            </a:p>
          </p:txBody>
        </p:sp>
        <p:sp>
          <p:nvSpPr>
            <p:cNvPr id="10" name="TextBox 9"/>
            <p:cNvSpPr txBox="1"/>
            <p:nvPr/>
          </p:nvSpPr>
          <p:spPr>
            <a:xfrm>
              <a:off x="6019800" y="5562600"/>
              <a:ext cx="3814128" cy="400110"/>
            </a:xfrm>
            <a:prstGeom prst="rect">
              <a:avLst/>
            </a:prstGeom>
            <a:noFill/>
          </p:spPr>
          <p:txBody>
            <a:bodyPr wrap="square" rtlCol="0">
              <a:spAutoFit/>
            </a:bodyPr>
            <a:lstStyle/>
            <a:p>
              <a:pPr algn="ctr"/>
              <a:r>
                <a:rPr lang="en-IN" sz="2000" b="1" dirty="0">
                  <a:solidFill>
                    <a:schemeClr val="accent5">
                      <a:lumMod val="75000"/>
                    </a:schemeClr>
                  </a:solidFill>
                </a:rPr>
                <a:t>Developer</a:t>
              </a:r>
            </a:p>
          </p:txBody>
        </p:sp>
      </p:grpSp>
    </p:spTree>
    <p:extLst>
      <p:ext uri="{BB962C8B-B14F-4D97-AF65-F5344CB8AC3E}">
        <p14:creationId xmlns:p14="http://schemas.microsoft.com/office/powerpoint/2010/main" val="2249093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Principles to achieve agility</a:t>
            </a:r>
          </a:p>
        </p:txBody>
      </p:sp>
      <p:sp>
        <p:nvSpPr>
          <p:cNvPr id="3" name="Content Placeholder 2"/>
          <p:cNvSpPr>
            <a:spLocks noGrp="1"/>
          </p:cNvSpPr>
          <p:nvPr>
            <p:ph idx="1"/>
          </p:nvPr>
        </p:nvSpPr>
        <p:spPr/>
        <p:txBody>
          <a:bodyPr/>
          <a:lstStyle/>
          <a:p>
            <a:r>
              <a:rPr lang="en-IN" sz="2200" dirty="0"/>
              <a:t>Highest priority -&gt; satisfy the customer </a:t>
            </a:r>
          </a:p>
          <a:p>
            <a:r>
              <a:rPr lang="en-IN" sz="2200" dirty="0"/>
              <a:t>Welcome change requirements</a:t>
            </a:r>
          </a:p>
          <a:p>
            <a:r>
              <a:rPr lang="en-IN" sz="2200" dirty="0"/>
              <a:t>Deliver working software frequently</a:t>
            </a:r>
          </a:p>
          <a:p>
            <a:r>
              <a:rPr lang="en-IN" sz="2200" dirty="0"/>
              <a:t>Business people and developers must work together</a:t>
            </a:r>
          </a:p>
          <a:p>
            <a:r>
              <a:rPr lang="en-IN" sz="2200" dirty="0"/>
              <a:t>Build projects around motivated individuals</a:t>
            </a:r>
          </a:p>
          <a:p>
            <a:r>
              <a:rPr lang="en-IN" sz="2200" dirty="0"/>
              <a:t>Emphasize face-to-face conversation</a:t>
            </a:r>
          </a:p>
          <a:p>
            <a:r>
              <a:rPr lang="en-US" sz="2200" dirty="0"/>
              <a:t>Measure the Progress as per the Working Software</a:t>
            </a:r>
          </a:p>
          <a:p>
            <a:r>
              <a:rPr lang="en-US" sz="2200" dirty="0"/>
              <a:t>Maintain Constant Pace</a:t>
            </a:r>
          </a:p>
          <a:p>
            <a:r>
              <a:rPr lang="en-IN" sz="2200" dirty="0"/>
              <a:t>Continuous attention to technical excellence and good design</a:t>
            </a:r>
          </a:p>
          <a:p>
            <a:r>
              <a:rPr lang="en-US" sz="2200" dirty="0"/>
              <a:t>Simplicity</a:t>
            </a:r>
          </a:p>
          <a:p>
            <a:r>
              <a:rPr lang="en-IN" sz="2200" dirty="0"/>
              <a:t>The best designs emerge from self-organizing teams</a:t>
            </a:r>
          </a:p>
          <a:p>
            <a:r>
              <a:rPr lang="en-IN" sz="2200" dirty="0"/>
              <a:t>The team tunes and adjusts its behaviour to become more effective</a:t>
            </a:r>
          </a:p>
        </p:txBody>
      </p:sp>
      <p:sp>
        <p:nvSpPr>
          <p:cNvPr id="4" name="Slide Number Placeholder 3"/>
          <p:cNvSpPr>
            <a:spLocks noGrp="1"/>
          </p:cNvSpPr>
          <p:nvPr>
            <p:ph type="sldNum" sz="quarter" idx="12"/>
          </p:nvPr>
        </p:nvSpPr>
        <p:spPr/>
        <p:txBody>
          <a:bodyPr/>
          <a:lstStyle/>
          <a:p>
            <a:fld id="{5EA8BEFB-AE5B-48F9-BBAD-B489CDE48C80}" type="slidenum">
              <a:rPr lang="en-US" smtClean="0"/>
              <a:pPr/>
              <a:t>7</a:t>
            </a:fld>
            <a:endParaRPr lang="en-US"/>
          </a:p>
        </p:txBody>
      </p:sp>
    </p:spTree>
    <p:extLst>
      <p:ext uri="{BB962C8B-B14F-4D97-AF65-F5344CB8AC3E}">
        <p14:creationId xmlns:p14="http://schemas.microsoft.com/office/powerpoint/2010/main" val="819587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Agile Software Process</a:t>
            </a:r>
          </a:p>
        </p:txBody>
      </p:sp>
      <p:sp>
        <p:nvSpPr>
          <p:cNvPr id="3" name="Content Placeholder 2"/>
          <p:cNvSpPr>
            <a:spLocks noGrp="1"/>
          </p:cNvSpPr>
          <p:nvPr>
            <p:ph idx="1"/>
          </p:nvPr>
        </p:nvSpPr>
        <p:spPr/>
        <p:txBody>
          <a:bodyPr/>
          <a:lstStyle/>
          <a:p>
            <a:endParaRPr lang="en-IN" dirty="0">
              <a:latin typeface="Times New Roman" panose="02020603050405020304" pitchFamily="18" charset="0"/>
            </a:endParaRPr>
          </a:p>
          <a:p>
            <a:r>
              <a:rPr lang="en-IN" dirty="0">
                <a:latin typeface="Times New Roman" panose="02020603050405020304" pitchFamily="18" charset="0"/>
              </a:rPr>
              <a:t>An agile process must be adaptable</a:t>
            </a:r>
          </a:p>
          <a:p>
            <a:r>
              <a:rPr lang="en-IN" dirty="0">
                <a:latin typeface="Times New Roman" panose="02020603050405020304" pitchFamily="18" charset="0"/>
              </a:rPr>
              <a:t>It must adapt incrementally</a:t>
            </a:r>
          </a:p>
          <a:p>
            <a:r>
              <a:rPr lang="en-IN" dirty="0">
                <a:latin typeface="Times New Roman" panose="02020603050405020304" pitchFamily="18" charset="0"/>
              </a:rPr>
              <a:t>Requires customer feedback</a:t>
            </a:r>
          </a:p>
          <a:p>
            <a:r>
              <a:rPr lang="en-IN" dirty="0">
                <a:latin typeface="Times New Roman" panose="02020603050405020304" pitchFamily="18" charset="0"/>
              </a:rPr>
              <a:t>An effective catalyst (main source) for customer feedback is an operational prototype</a:t>
            </a:r>
          </a:p>
        </p:txBody>
      </p:sp>
      <p:sp>
        <p:nvSpPr>
          <p:cNvPr id="4" name="Slide Number Placeholder 3"/>
          <p:cNvSpPr>
            <a:spLocks noGrp="1"/>
          </p:cNvSpPr>
          <p:nvPr>
            <p:ph type="sldNum" sz="quarter" idx="12"/>
          </p:nvPr>
        </p:nvSpPr>
        <p:spPr/>
        <p:txBody>
          <a:bodyPr/>
          <a:lstStyle/>
          <a:p>
            <a:fld id="{5EA8BEFB-AE5B-48F9-BBAD-B489CDE48C80}" type="slidenum">
              <a:rPr lang="en-US" smtClean="0">
                <a:latin typeface="Times New Roman" panose="02020603050405020304" pitchFamily="18" charset="0"/>
                <a:cs typeface="Times New Roman" panose="02020603050405020304" pitchFamily="18" charset="0"/>
              </a:rPr>
              <a:pPr/>
              <a:t>8</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5989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Agile Process Models</a:t>
            </a:r>
          </a:p>
        </p:txBody>
      </p:sp>
      <p:sp>
        <p:nvSpPr>
          <p:cNvPr id="33" name="Content Placeholder 2"/>
          <p:cNvSpPr>
            <a:spLocks noGrp="1"/>
          </p:cNvSpPr>
          <p:nvPr>
            <p:ph idx="1"/>
          </p:nvPr>
        </p:nvSpPr>
        <p:spPr/>
        <p:txBody>
          <a:bodyPr/>
          <a:lstStyle/>
          <a:p>
            <a:r>
              <a:rPr lang="en-GB" altLang="en-US" dirty="0">
                <a:latin typeface="Times New Roman" panose="02020603050405020304" pitchFamily="18" charset="0"/>
              </a:rPr>
              <a:t>Extreme Programming (XP)</a:t>
            </a:r>
          </a:p>
          <a:p>
            <a:r>
              <a:rPr lang="en-GB" altLang="en-US" dirty="0">
                <a:latin typeface="Times New Roman" panose="02020603050405020304" pitchFamily="18" charset="0"/>
              </a:rPr>
              <a:t>Adaptive Software Development (ASD)</a:t>
            </a:r>
          </a:p>
          <a:p>
            <a:r>
              <a:rPr lang="en-GB" altLang="en-US" dirty="0">
                <a:latin typeface="Times New Roman" panose="02020603050405020304" pitchFamily="18" charset="0"/>
              </a:rPr>
              <a:t>Dynamic Systems Development Method (DSDM)</a:t>
            </a:r>
          </a:p>
          <a:p>
            <a:r>
              <a:rPr lang="en-GB" altLang="en-US" dirty="0">
                <a:latin typeface="Times New Roman" panose="02020603050405020304" pitchFamily="18" charset="0"/>
              </a:rPr>
              <a:t>Scrum</a:t>
            </a:r>
          </a:p>
          <a:p>
            <a:r>
              <a:rPr lang="en-GB" altLang="en-US" dirty="0">
                <a:latin typeface="Times New Roman" panose="02020603050405020304" pitchFamily="18" charset="0"/>
              </a:rPr>
              <a:t>Feature Driven Development (FDD)</a:t>
            </a:r>
          </a:p>
          <a:p>
            <a:r>
              <a:rPr lang="en-GB" altLang="en-US" dirty="0">
                <a:latin typeface="Times New Roman" panose="02020603050405020304" pitchFamily="18" charset="0"/>
              </a:rPr>
              <a:t>Crystal</a:t>
            </a:r>
          </a:p>
          <a:p>
            <a:r>
              <a:rPr lang="en-GB" altLang="en-US" dirty="0">
                <a:latin typeface="Times New Roman" panose="02020603050405020304" pitchFamily="18" charset="0"/>
              </a:rPr>
              <a:t>Large Scale Scrum</a:t>
            </a:r>
          </a:p>
          <a:p>
            <a:r>
              <a:rPr lang="en-GB" dirty="0">
                <a:latin typeface="Times New Roman" panose="02020603050405020304" pitchFamily="18" charset="0"/>
              </a:rPr>
              <a:t>Kanban</a:t>
            </a:r>
            <a:endParaRPr lang="en-US" dirty="0">
              <a:latin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5EA8BEFB-AE5B-48F9-BBAD-B489CDE48C80}" type="slidenum">
              <a:rPr lang="en-US" smtClean="0">
                <a:latin typeface="Times New Roman" panose="02020603050405020304" pitchFamily="18" charset="0"/>
                <a:cs typeface="Times New Roman" panose="02020603050405020304" pitchFamily="18" charset="0"/>
              </a:rPr>
              <a:pPr/>
              <a:t>9</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73966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1. Extreme Programming (XP)</a:t>
            </a:r>
          </a:p>
        </p:txBody>
      </p:sp>
      <p:sp>
        <p:nvSpPr>
          <p:cNvPr id="33" name="Content Placeholder 2"/>
          <p:cNvSpPr>
            <a:spLocks noGrp="1"/>
          </p:cNvSpPr>
          <p:nvPr>
            <p:ph idx="1"/>
          </p:nvPr>
        </p:nvSpPr>
        <p:spPr/>
        <p:txBody>
          <a:bodyPr/>
          <a:lstStyle/>
          <a:p>
            <a:r>
              <a:rPr lang="en-US" dirty="0">
                <a:latin typeface="Times New Roman" panose="02020603050405020304" pitchFamily="18" charset="0"/>
              </a:rPr>
              <a:t>The most widely used agile process, originally proposed by Kent Beck.</a:t>
            </a:r>
          </a:p>
          <a:p>
            <a:r>
              <a:rPr lang="en-US" dirty="0">
                <a:latin typeface="Times New Roman" panose="02020603050405020304" pitchFamily="18" charset="0"/>
              </a:rPr>
              <a:t>XP uses an </a:t>
            </a:r>
            <a:r>
              <a:rPr lang="en-US" dirty="0">
                <a:solidFill>
                  <a:srgbClr val="FF0000"/>
                </a:solidFill>
                <a:latin typeface="Times New Roman" panose="02020603050405020304" pitchFamily="18" charset="0"/>
              </a:rPr>
              <a:t>object-oriented approach </a:t>
            </a:r>
            <a:r>
              <a:rPr lang="en-US" dirty="0">
                <a:latin typeface="Times New Roman" panose="02020603050405020304" pitchFamily="18" charset="0"/>
              </a:rPr>
              <a:t>as its preferred development paradigm (ideal pattern).</a:t>
            </a:r>
          </a:p>
          <a:p>
            <a:r>
              <a:rPr lang="en-US" dirty="0">
                <a:latin typeface="Times New Roman" panose="02020603050405020304" pitchFamily="18" charset="0"/>
              </a:rPr>
              <a:t>Defines four framework activities</a:t>
            </a:r>
          </a:p>
          <a:p>
            <a:pPr lvl="1"/>
            <a:r>
              <a:rPr lang="en-US" dirty="0">
                <a:latin typeface="Times New Roman" panose="02020603050405020304" pitchFamily="18" charset="0"/>
              </a:rPr>
              <a:t>Planning</a:t>
            </a:r>
          </a:p>
          <a:p>
            <a:pPr lvl="1"/>
            <a:r>
              <a:rPr lang="en-US" dirty="0">
                <a:latin typeface="Times New Roman" panose="02020603050405020304" pitchFamily="18" charset="0"/>
              </a:rPr>
              <a:t>Design</a:t>
            </a:r>
          </a:p>
          <a:p>
            <a:pPr lvl="1"/>
            <a:r>
              <a:rPr lang="en-US" dirty="0">
                <a:latin typeface="Times New Roman" panose="02020603050405020304" pitchFamily="18" charset="0"/>
              </a:rPr>
              <a:t>Coding</a:t>
            </a:r>
          </a:p>
          <a:p>
            <a:pPr lvl="1"/>
            <a:r>
              <a:rPr lang="en-US" dirty="0">
                <a:latin typeface="Times New Roman" panose="02020603050405020304" pitchFamily="18" charset="0"/>
              </a:rPr>
              <a:t>Testing</a:t>
            </a:r>
          </a:p>
        </p:txBody>
      </p:sp>
      <p:sp>
        <p:nvSpPr>
          <p:cNvPr id="3" name="Slide Number Placeholder 2"/>
          <p:cNvSpPr>
            <a:spLocks noGrp="1"/>
          </p:cNvSpPr>
          <p:nvPr>
            <p:ph type="sldNum" sz="quarter" idx="12"/>
          </p:nvPr>
        </p:nvSpPr>
        <p:spPr/>
        <p:txBody>
          <a:bodyPr/>
          <a:lstStyle/>
          <a:p>
            <a:fld id="{5EA8BEFB-AE5B-48F9-BBAD-B489CDE48C80}" type="slidenum">
              <a:rPr lang="en-US" smtClean="0">
                <a:latin typeface="Times New Roman" panose="02020603050405020304" pitchFamily="18" charset="0"/>
                <a:cs typeface="Times New Roman" panose="02020603050405020304" pitchFamily="18" charset="0"/>
              </a:rPr>
              <a:pPr/>
              <a:t>10</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4254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Extreme Programming (XP) (Cont…)</a:t>
            </a:r>
            <a:endParaRPr lang="en-IN"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5EA8BEFB-AE5B-48F9-BBAD-B489CDE48C80}" type="slidenum">
              <a:rPr lang="en-US" smtClean="0">
                <a:latin typeface="Times New Roman" panose="02020603050405020304" pitchFamily="18" charset="0"/>
                <a:cs typeface="Times New Roman" panose="02020603050405020304" pitchFamily="18" charset="0"/>
              </a:rPr>
              <a:pPr/>
              <a:t>11</a:t>
            </a:fld>
            <a:endParaRPr lang="en-US">
              <a:latin typeface="Times New Roman" panose="02020603050405020304" pitchFamily="18" charset="0"/>
              <a:cs typeface="Times New Roman" panose="02020603050405020304" pitchFamily="18" charset="0"/>
            </a:endParaRPr>
          </a:p>
        </p:txBody>
      </p:sp>
      <p:sp>
        <p:nvSpPr>
          <p:cNvPr id="4" name="TextBox 3"/>
          <p:cNvSpPr txBox="1"/>
          <p:nvPr/>
        </p:nvSpPr>
        <p:spPr>
          <a:xfrm>
            <a:off x="3476362" y="6049271"/>
            <a:ext cx="2151486" cy="369332"/>
          </a:xfrm>
          <a:prstGeom prst="rect">
            <a:avLst/>
          </a:prstGeom>
          <a:noFill/>
        </p:spPr>
        <p:txBody>
          <a:bodyPr wrap="none" rtlCol="0">
            <a:spAutoFit/>
          </a:bodyPr>
          <a:lstStyle/>
          <a:p>
            <a:r>
              <a:rPr lang="en-IN" dirty="0">
                <a:solidFill>
                  <a:schemeClr val="tx1">
                    <a:lumMod val="65000"/>
                    <a:lumOff val="35000"/>
                  </a:schemeClr>
                </a:solidFill>
                <a:latin typeface="Times New Roman" panose="02020603050405020304" pitchFamily="18" charset="0"/>
                <a:cs typeface="Times New Roman" panose="02020603050405020304" pitchFamily="18" charset="0"/>
              </a:rPr>
              <a:t>© Roger S. Pressman</a:t>
            </a:r>
          </a:p>
        </p:txBody>
      </p:sp>
      <p:pic>
        <p:nvPicPr>
          <p:cNvPr id="2050"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1295400" y="762000"/>
            <a:ext cx="6648450" cy="5273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0" y="6107668"/>
            <a:ext cx="3340979" cy="338554"/>
          </a:xfrm>
          <a:prstGeom prst="rect">
            <a:avLst/>
          </a:prstGeom>
          <a:noFill/>
        </p:spPr>
        <p:txBody>
          <a:bodyPr wrap="none" rtlCol="0">
            <a:spAutoFit/>
          </a:bodyPr>
          <a:lstStyle/>
          <a:p>
            <a:r>
              <a:rPr lang="en-IN" sz="1600" dirty="0">
                <a:latin typeface="Times New Roman" panose="02020603050405020304" pitchFamily="18" charset="0"/>
                <a:cs typeface="Times New Roman" panose="02020603050405020304" pitchFamily="18" charset="0"/>
              </a:rPr>
              <a:t>CRC: class-responsibility collaborator</a:t>
            </a:r>
          </a:p>
        </p:txBody>
      </p:sp>
    </p:spTree>
    <p:extLst>
      <p:ext uri="{BB962C8B-B14F-4D97-AF65-F5344CB8AC3E}">
        <p14:creationId xmlns:p14="http://schemas.microsoft.com/office/powerpoint/2010/main" val="2768951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XP - Planning</a:t>
            </a:r>
          </a:p>
        </p:txBody>
      </p:sp>
      <p:sp>
        <p:nvSpPr>
          <p:cNvPr id="33" name="Content Placeholder 2"/>
          <p:cNvSpPr>
            <a:spLocks noGrp="1"/>
          </p:cNvSpPr>
          <p:nvPr>
            <p:ph idx="1"/>
          </p:nvPr>
        </p:nvSpPr>
        <p:spPr/>
        <p:txBody>
          <a:bodyPr/>
          <a:lstStyle/>
          <a:p>
            <a:r>
              <a:rPr lang="en-US" dirty="0">
                <a:latin typeface="Times New Roman" panose="02020603050405020304" pitchFamily="18" charset="0"/>
              </a:rPr>
              <a:t>User story-cards</a:t>
            </a:r>
          </a:p>
          <a:p>
            <a:pPr lvl="1"/>
            <a:r>
              <a:rPr lang="en-US" dirty="0">
                <a:latin typeface="Times New Roman" panose="02020603050405020304" pitchFamily="18" charset="0"/>
              </a:rPr>
              <a:t>Instead of creating large requirement documents, user stories are written by the customer. In which what they need is mentioned.</a:t>
            </a:r>
          </a:p>
          <a:p>
            <a:r>
              <a:rPr lang="en-US" dirty="0">
                <a:latin typeface="Times New Roman" panose="02020603050405020304" pitchFamily="18" charset="0"/>
              </a:rPr>
              <a:t>Release planning</a:t>
            </a:r>
          </a:p>
          <a:p>
            <a:pPr lvl="1"/>
            <a:r>
              <a:rPr lang="en-US" dirty="0">
                <a:latin typeface="Times New Roman" panose="02020603050405020304" pitchFamily="18" charset="0"/>
              </a:rPr>
              <a:t>Release plan for overall project is prepared</a:t>
            </a:r>
          </a:p>
          <a:p>
            <a:pPr lvl="1"/>
            <a:r>
              <a:rPr lang="en-US" dirty="0">
                <a:latin typeface="Times New Roman" panose="02020603050405020304" pitchFamily="18" charset="0"/>
              </a:rPr>
              <a:t>From which the iteration plan can be prepared for individual module.</a:t>
            </a:r>
          </a:p>
          <a:p>
            <a:r>
              <a:rPr lang="en-US" dirty="0">
                <a:latin typeface="Times New Roman" panose="02020603050405020304" pitchFamily="18" charset="0"/>
              </a:rPr>
              <a:t>Small releases</a:t>
            </a:r>
          </a:p>
          <a:p>
            <a:pPr lvl="1"/>
            <a:r>
              <a:rPr lang="en-US" dirty="0">
                <a:latin typeface="Times New Roman" panose="02020603050405020304" pitchFamily="18" charset="0"/>
              </a:rPr>
              <a:t>Plan for releasing the small functionalities</a:t>
            </a:r>
          </a:p>
          <a:p>
            <a:r>
              <a:rPr lang="en-US" dirty="0">
                <a:latin typeface="Times New Roman" panose="02020603050405020304" pitchFamily="18" charset="0"/>
              </a:rPr>
              <a:t>Iterative process</a:t>
            </a:r>
          </a:p>
          <a:p>
            <a:pPr lvl="1"/>
            <a:r>
              <a:rPr lang="en-US" dirty="0">
                <a:latin typeface="Times New Roman" panose="02020603050405020304" pitchFamily="18" charset="0"/>
              </a:rPr>
              <a:t>Keep the iteration of nearly equal length</a:t>
            </a:r>
          </a:p>
          <a:p>
            <a:r>
              <a:rPr lang="en-US" dirty="0">
                <a:latin typeface="Times New Roman" panose="02020603050405020304" pitchFamily="18" charset="0"/>
              </a:rPr>
              <a:t>Stand up meetings</a:t>
            </a:r>
          </a:p>
          <a:p>
            <a:pPr lvl="1"/>
            <a:r>
              <a:rPr lang="en-US" dirty="0">
                <a:latin typeface="Times New Roman" panose="02020603050405020304" pitchFamily="18" charset="0"/>
              </a:rPr>
              <a:t>The stand up meetings must be conducted for the current outcomes</a:t>
            </a:r>
          </a:p>
        </p:txBody>
      </p:sp>
      <p:sp>
        <p:nvSpPr>
          <p:cNvPr id="3" name="Slide Number Placeholder 2"/>
          <p:cNvSpPr>
            <a:spLocks noGrp="1"/>
          </p:cNvSpPr>
          <p:nvPr>
            <p:ph type="sldNum" sz="quarter" idx="12"/>
          </p:nvPr>
        </p:nvSpPr>
        <p:spPr/>
        <p:txBody>
          <a:bodyPr/>
          <a:lstStyle/>
          <a:p>
            <a:fld id="{5EA8BEFB-AE5B-48F9-BBAD-B489CDE48C80}" type="slidenum">
              <a:rPr lang="en-US" smtClean="0">
                <a:latin typeface="Times New Roman" panose="02020603050405020304" pitchFamily="18" charset="0"/>
                <a:cs typeface="Times New Roman" panose="02020603050405020304" pitchFamily="18" charset="0"/>
              </a:rPr>
              <a:pPr/>
              <a:t>12</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2162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ii.  XP - Design</a:t>
            </a:r>
          </a:p>
        </p:txBody>
      </p:sp>
      <p:sp>
        <p:nvSpPr>
          <p:cNvPr id="33" name="Content Placeholder 2"/>
          <p:cNvSpPr>
            <a:spLocks noGrp="1"/>
          </p:cNvSpPr>
          <p:nvPr>
            <p:ph idx="1"/>
          </p:nvPr>
        </p:nvSpPr>
        <p:spPr/>
        <p:txBody>
          <a:bodyPr/>
          <a:lstStyle/>
          <a:p>
            <a:endParaRPr lang="en-IN" dirty="0">
              <a:latin typeface="Times New Roman" panose="02020603050405020304" pitchFamily="18" charset="0"/>
            </a:endParaRPr>
          </a:p>
          <a:p>
            <a:r>
              <a:rPr lang="en-IN" dirty="0">
                <a:latin typeface="Times New Roman" panose="02020603050405020304" pitchFamily="18" charset="0"/>
              </a:rPr>
              <a:t>Simple design</a:t>
            </a:r>
          </a:p>
          <a:p>
            <a:pPr lvl="1"/>
            <a:r>
              <a:rPr lang="en-IN" dirty="0">
                <a:latin typeface="Times New Roman" panose="02020603050405020304" pitchFamily="18" charset="0"/>
              </a:rPr>
              <a:t>It is always good to keep the things simple to meet the current requirements</a:t>
            </a:r>
          </a:p>
          <a:p>
            <a:r>
              <a:rPr lang="en-US" dirty="0">
                <a:latin typeface="Times New Roman" panose="02020603050405020304" pitchFamily="18" charset="0"/>
              </a:rPr>
              <a:t>Spike solution</a:t>
            </a:r>
          </a:p>
          <a:p>
            <a:pPr lvl="1"/>
            <a:r>
              <a:rPr lang="en-US" dirty="0">
                <a:latin typeface="Times New Roman" panose="02020603050405020304" pitchFamily="18" charset="0"/>
              </a:rPr>
              <a:t>For answering the tough technical problem</a:t>
            </a:r>
          </a:p>
          <a:p>
            <a:r>
              <a:rPr lang="en-US" dirty="0">
                <a:latin typeface="Times New Roman" panose="02020603050405020304" pitchFamily="18" charset="0"/>
              </a:rPr>
              <a:t>Refactoring</a:t>
            </a:r>
          </a:p>
          <a:p>
            <a:pPr lvl="1"/>
            <a:r>
              <a:rPr lang="en-US" dirty="0">
                <a:latin typeface="Times New Roman" panose="02020603050405020304" pitchFamily="18" charset="0"/>
              </a:rPr>
              <a:t>Reduction in the redundancy, elimination of unused functionalities</a:t>
            </a:r>
          </a:p>
        </p:txBody>
      </p:sp>
      <p:sp>
        <p:nvSpPr>
          <p:cNvPr id="3" name="Slide Number Placeholder 2"/>
          <p:cNvSpPr>
            <a:spLocks noGrp="1"/>
          </p:cNvSpPr>
          <p:nvPr>
            <p:ph type="sldNum" sz="quarter" idx="12"/>
          </p:nvPr>
        </p:nvSpPr>
        <p:spPr/>
        <p:txBody>
          <a:bodyPr/>
          <a:lstStyle/>
          <a:p>
            <a:fld id="{5EA8BEFB-AE5B-48F9-BBAD-B489CDE48C80}" type="slidenum">
              <a:rPr lang="en-US" smtClean="0">
                <a:latin typeface="Times New Roman" panose="02020603050405020304" pitchFamily="18" charset="0"/>
                <a:cs typeface="Times New Roman" panose="02020603050405020304" pitchFamily="18" charset="0"/>
              </a:rPr>
              <a:pPr/>
              <a:t>13</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5329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iii.  XP - Coding</a:t>
            </a:r>
          </a:p>
        </p:txBody>
      </p:sp>
      <p:sp>
        <p:nvSpPr>
          <p:cNvPr id="33" name="Content Placeholder 2"/>
          <p:cNvSpPr>
            <a:spLocks noGrp="1"/>
          </p:cNvSpPr>
          <p:nvPr>
            <p:ph idx="1"/>
          </p:nvPr>
        </p:nvSpPr>
        <p:spPr>
          <a:xfrm>
            <a:off x="190500" y="838200"/>
            <a:ext cx="8763000" cy="5535304"/>
          </a:xfrm>
        </p:spPr>
        <p:txBody>
          <a:bodyPr/>
          <a:lstStyle/>
          <a:p>
            <a:r>
              <a:rPr lang="en-IN" dirty="0">
                <a:latin typeface="Times New Roman" panose="02020603050405020304" pitchFamily="18" charset="0"/>
              </a:rPr>
              <a:t>Customer availability</a:t>
            </a:r>
          </a:p>
          <a:p>
            <a:pPr lvl="1"/>
            <a:r>
              <a:rPr lang="en-IN" dirty="0">
                <a:latin typeface="Times New Roman" panose="02020603050405020304" pitchFamily="18" charset="0"/>
              </a:rPr>
              <a:t>In XP, customer should be the part of the project development</a:t>
            </a:r>
          </a:p>
          <a:p>
            <a:r>
              <a:rPr lang="en-IN" dirty="0">
                <a:latin typeface="Times New Roman" panose="02020603050405020304" pitchFamily="18" charset="0"/>
              </a:rPr>
              <a:t>Paired programming</a:t>
            </a:r>
          </a:p>
          <a:p>
            <a:pPr lvl="1"/>
            <a:r>
              <a:rPr lang="en-IN" dirty="0">
                <a:latin typeface="Times New Roman" panose="02020603050405020304" pitchFamily="18" charset="0"/>
              </a:rPr>
              <a:t>All code must be coded by groups of two people working at the same computer</a:t>
            </a:r>
          </a:p>
          <a:p>
            <a:r>
              <a:rPr lang="en-IN" dirty="0">
                <a:latin typeface="Times New Roman" panose="02020603050405020304" pitchFamily="18" charset="0"/>
              </a:rPr>
              <a:t>Collective code ownership</a:t>
            </a:r>
          </a:p>
          <a:p>
            <a:pPr lvl="1"/>
            <a:r>
              <a:rPr lang="en-IN" dirty="0">
                <a:latin typeface="Times New Roman" panose="02020603050405020304" pitchFamily="18" charset="0"/>
              </a:rPr>
              <a:t>By having collective code ownership approach,</a:t>
            </a:r>
          </a:p>
          <a:p>
            <a:pPr lvl="2"/>
            <a:r>
              <a:rPr lang="en-IN" dirty="0">
                <a:latin typeface="Times New Roman" panose="02020603050405020304" pitchFamily="18" charset="0"/>
              </a:rPr>
              <a:t>Everyone contributes new ideas</a:t>
            </a:r>
          </a:p>
          <a:p>
            <a:pPr lvl="2"/>
            <a:r>
              <a:rPr lang="en-IN" dirty="0">
                <a:latin typeface="Times New Roman" panose="02020603050405020304" pitchFamily="18" charset="0"/>
              </a:rPr>
              <a:t>Anyone can change any line of code to fix a bug</a:t>
            </a:r>
            <a:endParaRPr lang="en-US" dirty="0">
              <a:latin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5EA8BEFB-AE5B-48F9-BBAD-B489CDE48C80}" type="slidenum">
              <a:rPr lang="en-US" smtClean="0">
                <a:latin typeface="Times New Roman" panose="02020603050405020304" pitchFamily="18" charset="0"/>
                <a:cs typeface="Times New Roman" panose="02020603050405020304" pitchFamily="18" charset="0"/>
              </a:rPr>
              <a:pPr/>
              <a:t>14</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03822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iv.  XP - Testing</a:t>
            </a:r>
          </a:p>
        </p:txBody>
      </p:sp>
      <p:sp>
        <p:nvSpPr>
          <p:cNvPr id="33" name="Content Placeholder 2"/>
          <p:cNvSpPr>
            <a:spLocks noGrp="1"/>
          </p:cNvSpPr>
          <p:nvPr>
            <p:ph idx="1"/>
          </p:nvPr>
        </p:nvSpPr>
        <p:spPr/>
        <p:txBody>
          <a:bodyPr/>
          <a:lstStyle/>
          <a:p>
            <a:endParaRPr lang="en-US" dirty="0">
              <a:latin typeface="Times New Roman" panose="02020603050405020304" pitchFamily="18" charset="0"/>
            </a:endParaRPr>
          </a:p>
          <a:p>
            <a:r>
              <a:rPr lang="en-US" dirty="0">
                <a:latin typeface="Times New Roman" panose="02020603050405020304" pitchFamily="18" charset="0"/>
              </a:rPr>
              <a:t>Unit testing</a:t>
            </a:r>
          </a:p>
          <a:p>
            <a:pPr lvl="1"/>
            <a:r>
              <a:rPr lang="en-US" dirty="0">
                <a:latin typeface="Times New Roman" panose="02020603050405020304" pitchFamily="18" charset="0"/>
              </a:rPr>
              <a:t>All the code must be tested by unit testing using test cases before its release</a:t>
            </a:r>
          </a:p>
          <a:p>
            <a:r>
              <a:rPr lang="en-US" dirty="0">
                <a:latin typeface="Times New Roman" panose="02020603050405020304" pitchFamily="18" charset="0"/>
              </a:rPr>
              <a:t>Continuous integration</a:t>
            </a:r>
          </a:p>
          <a:p>
            <a:pPr lvl="1"/>
            <a:r>
              <a:rPr lang="en-US" dirty="0">
                <a:latin typeface="Times New Roman" panose="02020603050405020304" pitchFamily="18" charset="0"/>
              </a:rPr>
              <a:t>As soon as one task is finished, integrate it into the whole system</a:t>
            </a:r>
          </a:p>
          <a:p>
            <a:r>
              <a:rPr lang="en-US" dirty="0">
                <a:latin typeface="Times New Roman" panose="02020603050405020304" pitchFamily="18" charset="0"/>
              </a:rPr>
              <a:t>No overtime</a:t>
            </a:r>
          </a:p>
          <a:p>
            <a:pPr lvl="1"/>
            <a:r>
              <a:rPr lang="en-US" dirty="0">
                <a:latin typeface="Times New Roman" panose="02020603050405020304" pitchFamily="18" charset="0"/>
              </a:rPr>
              <a:t>Conduct the release plan meeting to change the scope or to reschedule the project delivery</a:t>
            </a:r>
          </a:p>
        </p:txBody>
      </p:sp>
      <p:sp>
        <p:nvSpPr>
          <p:cNvPr id="3" name="Slide Number Placeholder 2"/>
          <p:cNvSpPr>
            <a:spLocks noGrp="1"/>
          </p:cNvSpPr>
          <p:nvPr>
            <p:ph type="sldNum" sz="quarter" idx="12"/>
          </p:nvPr>
        </p:nvSpPr>
        <p:spPr/>
        <p:txBody>
          <a:bodyPr/>
          <a:lstStyle/>
          <a:p>
            <a:fld id="{5EA8BEFB-AE5B-48F9-BBAD-B489CDE48C80}" type="slidenum">
              <a:rPr lang="en-US" smtClean="0">
                <a:latin typeface="Times New Roman" panose="02020603050405020304" pitchFamily="18" charset="0"/>
                <a:cs typeface="Times New Roman" panose="02020603050405020304" pitchFamily="18" charset="0"/>
              </a:rPr>
              <a:pPr/>
              <a:t>15</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8443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46037"/>
            <a:ext cx="8572500" cy="808037"/>
          </a:xfrm>
        </p:spPr>
        <p:txBody>
          <a:bodyPr>
            <a:normAutofit/>
          </a:bodyPr>
          <a:lstStyle/>
          <a:p>
            <a:r>
              <a:rPr lang="en-IN" sz="4000" dirty="0">
                <a:latin typeface="Times New Roman" panose="02020603050405020304" pitchFamily="18" charset="0"/>
                <a:cs typeface="Times New Roman" panose="02020603050405020304" pitchFamily="18" charset="0"/>
              </a:rPr>
              <a:t>2. Adaptive Software Development (ASD)</a:t>
            </a:r>
          </a:p>
        </p:txBody>
      </p:sp>
      <p:sp>
        <p:nvSpPr>
          <p:cNvPr id="33" name="Content Placeholder 2"/>
          <p:cNvSpPr>
            <a:spLocks noGrp="1"/>
          </p:cNvSpPr>
          <p:nvPr>
            <p:ph idx="1"/>
          </p:nvPr>
        </p:nvSpPr>
        <p:spPr>
          <a:xfrm>
            <a:off x="190500" y="914400"/>
            <a:ext cx="8763000" cy="5459104"/>
          </a:xfrm>
        </p:spPr>
        <p:txBody>
          <a:bodyPr/>
          <a:lstStyle/>
          <a:p>
            <a:r>
              <a:rPr lang="en-US" dirty="0">
                <a:latin typeface="Times New Roman" panose="02020603050405020304" pitchFamily="18" charset="0"/>
              </a:rPr>
              <a:t>Adaptive Software Development (ASD) was proposed by Jim </a:t>
            </a:r>
            <a:r>
              <a:rPr lang="en-US" dirty="0" err="1">
                <a:latin typeface="Times New Roman" panose="02020603050405020304" pitchFamily="18" charset="0"/>
              </a:rPr>
              <a:t>Highsmith</a:t>
            </a:r>
            <a:r>
              <a:rPr lang="en-US" dirty="0">
                <a:latin typeface="Times New Roman" panose="02020603050405020304" pitchFamily="18" charset="0"/>
              </a:rPr>
              <a:t>.</a:t>
            </a:r>
          </a:p>
          <a:p>
            <a:r>
              <a:rPr lang="en-US" dirty="0">
                <a:latin typeface="Times New Roman" panose="02020603050405020304" pitchFamily="18" charset="0"/>
              </a:rPr>
              <a:t>This is a technique for building complex software systems using iterative approach.</a:t>
            </a:r>
            <a:endParaRPr lang="en-IN" dirty="0">
              <a:latin typeface="Times New Roman" panose="02020603050405020304" pitchFamily="18" charset="0"/>
            </a:endParaRPr>
          </a:p>
          <a:p>
            <a:r>
              <a:rPr lang="en-US" dirty="0">
                <a:latin typeface="Times New Roman" panose="02020603050405020304" pitchFamily="18" charset="0"/>
              </a:rPr>
              <a:t>ASD focus on </a:t>
            </a:r>
            <a:r>
              <a:rPr lang="en-US" dirty="0">
                <a:solidFill>
                  <a:srgbClr val="FF0000"/>
                </a:solidFill>
                <a:latin typeface="Times New Roman" panose="02020603050405020304" pitchFamily="18" charset="0"/>
              </a:rPr>
              <a:t>working in collaboration </a:t>
            </a:r>
            <a:r>
              <a:rPr lang="en-US" dirty="0">
                <a:latin typeface="Times New Roman" panose="02020603050405020304" pitchFamily="18" charset="0"/>
              </a:rPr>
              <a:t>and </a:t>
            </a:r>
            <a:r>
              <a:rPr lang="en-US" dirty="0">
                <a:solidFill>
                  <a:srgbClr val="FF0000"/>
                </a:solidFill>
                <a:latin typeface="Times New Roman" panose="02020603050405020304" pitchFamily="18" charset="0"/>
              </a:rPr>
              <a:t>team self-organization</a:t>
            </a:r>
            <a:r>
              <a:rPr lang="en-US" dirty="0">
                <a:latin typeface="Times New Roman" panose="02020603050405020304" pitchFamily="18" charset="0"/>
              </a:rPr>
              <a:t>.</a:t>
            </a:r>
            <a:endParaRPr lang="en-IN" dirty="0">
              <a:latin typeface="Times New Roman" panose="02020603050405020304" pitchFamily="18" charset="0"/>
            </a:endParaRPr>
          </a:p>
          <a:p>
            <a:r>
              <a:rPr lang="en-US" dirty="0">
                <a:latin typeface="Times New Roman" panose="02020603050405020304" pitchFamily="18" charset="0"/>
              </a:rPr>
              <a:t>ASD incorporates three phases </a:t>
            </a:r>
          </a:p>
          <a:p>
            <a:pPr lvl="1"/>
            <a:r>
              <a:rPr lang="en-US" dirty="0">
                <a:latin typeface="Times New Roman" panose="02020603050405020304" pitchFamily="18" charset="0"/>
              </a:rPr>
              <a:t>Speculation</a:t>
            </a:r>
          </a:p>
          <a:p>
            <a:pPr lvl="1"/>
            <a:r>
              <a:rPr lang="en-US" dirty="0">
                <a:latin typeface="Times New Roman" panose="02020603050405020304" pitchFamily="18" charset="0"/>
              </a:rPr>
              <a:t>Collaboration</a:t>
            </a:r>
          </a:p>
          <a:p>
            <a:pPr lvl="1"/>
            <a:r>
              <a:rPr lang="en-US" dirty="0">
                <a:latin typeface="Times New Roman" panose="02020603050405020304" pitchFamily="18" charset="0"/>
              </a:rPr>
              <a:t>Learning</a:t>
            </a:r>
          </a:p>
        </p:txBody>
      </p:sp>
      <p:sp>
        <p:nvSpPr>
          <p:cNvPr id="3" name="Slide Number Placeholder 2"/>
          <p:cNvSpPr>
            <a:spLocks noGrp="1"/>
          </p:cNvSpPr>
          <p:nvPr>
            <p:ph type="sldNum" sz="quarter" idx="12"/>
          </p:nvPr>
        </p:nvSpPr>
        <p:spPr/>
        <p:txBody>
          <a:bodyPr/>
          <a:lstStyle/>
          <a:p>
            <a:fld id="{5EA8BEFB-AE5B-48F9-BBAD-B489CDE48C80}" type="slidenum">
              <a:rPr lang="en-US" smtClean="0">
                <a:latin typeface="Times New Roman" panose="02020603050405020304" pitchFamily="18" charset="0"/>
                <a:cs typeface="Times New Roman" panose="02020603050405020304" pitchFamily="18" charset="0"/>
              </a:rPr>
              <a:pPr/>
              <a:t>16</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92859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Adaptive Software Development (ASD)</a:t>
            </a:r>
          </a:p>
        </p:txBody>
      </p:sp>
      <p:sp>
        <p:nvSpPr>
          <p:cNvPr id="3" name="Slide Number Placeholder 2"/>
          <p:cNvSpPr>
            <a:spLocks noGrp="1"/>
          </p:cNvSpPr>
          <p:nvPr>
            <p:ph type="sldNum" sz="quarter" idx="12"/>
          </p:nvPr>
        </p:nvSpPr>
        <p:spPr/>
        <p:txBody>
          <a:bodyPr/>
          <a:lstStyle/>
          <a:p>
            <a:fld id="{5EA8BEFB-AE5B-48F9-BBAD-B489CDE48C80}" type="slidenum">
              <a:rPr lang="en-US" smtClean="0">
                <a:latin typeface="Times New Roman" panose="02020603050405020304" pitchFamily="18" charset="0"/>
                <a:cs typeface="Times New Roman" panose="02020603050405020304" pitchFamily="18" charset="0"/>
              </a:rPr>
              <a:pPr/>
              <a:t>17</a:t>
            </a:fld>
            <a:endParaRPr lang="en-US">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1246590" y="762000"/>
            <a:ext cx="6678210"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0" y="6107668"/>
            <a:ext cx="3291157" cy="338554"/>
          </a:xfrm>
          <a:prstGeom prst="rect">
            <a:avLst/>
          </a:prstGeom>
          <a:noFill/>
        </p:spPr>
        <p:txBody>
          <a:bodyPr wrap="none" rtlCol="0">
            <a:spAutoFit/>
          </a:bodyPr>
          <a:lstStyle/>
          <a:p>
            <a:r>
              <a:rPr lang="en-IN" sz="1600" dirty="0">
                <a:latin typeface="Times New Roman" panose="02020603050405020304" pitchFamily="18" charset="0"/>
                <a:cs typeface="Times New Roman" panose="02020603050405020304" pitchFamily="18" charset="0"/>
              </a:rPr>
              <a:t>JAD : Joint Application Development</a:t>
            </a:r>
          </a:p>
        </p:txBody>
      </p:sp>
    </p:spTree>
    <p:extLst>
      <p:ext uri="{BB962C8B-B14F-4D97-AF65-F5344CB8AC3E}">
        <p14:creationId xmlns:p14="http://schemas.microsoft.com/office/powerpoint/2010/main" val="2538168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Speculation</a:t>
            </a:r>
            <a:endParaRPr lang="en-IN" dirty="0">
              <a:latin typeface="Times New Roman" panose="02020603050405020304" pitchFamily="18" charset="0"/>
              <a:cs typeface="Times New Roman" panose="02020603050405020304" pitchFamily="18" charset="0"/>
            </a:endParaRPr>
          </a:p>
        </p:txBody>
      </p:sp>
      <p:sp>
        <p:nvSpPr>
          <p:cNvPr id="33" name="Content Placeholder 2"/>
          <p:cNvSpPr>
            <a:spLocks noGrp="1"/>
          </p:cNvSpPr>
          <p:nvPr>
            <p:ph idx="1"/>
          </p:nvPr>
        </p:nvSpPr>
        <p:spPr/>
        <p:txBody>
          <a:bodyPr/>
          <a:lstStyle/>
          <a:p>
            <a:r>
              <a:rPr lang="en-IN" dirty="0">
                <a:latin typeface="Times New Roman" panose="02020603050405020304" pitchFamily="18" charset="0"/>
              </a:rPr>
              <a:t>The adaptive cycle planning is conducted.</a:t>
            </a:r>
          </a:p>
          <a:p>
            <a:r>
              <a:rPr lang="en-IN" dirty="0">
                <a:latin typeface="Times New Roman" panose="02020603050405020304" pitchFamily="18" charset="0"/>
              </a:rPr>
              <a:t>In this cycle planning mainly three types of information is used</a:t>
            </a:r>
          </a:p>
          <a:p>
            <a:pPr lvl="1"/>
            <a:r>
              <a:rPr lang="en-IN" dirty="0">
                <a:latin typeface="Times New Roman" panose="02020603050405020304" pitchFamily="18" charset="0"/>
              </a:rPr>
              <a:t>Customer’s mission statement</a:t>
            </a:r>
          </a:p>
          <a:p>
            <a:pPr lvl="1"/>
            <a:r>
              <a:rPr lang="en-IN" dirty="0">
                <a:latin typeface="Times New Roman" panose="02020603050405020304" pitchFamily="18" charset="0"/>
              </a:rPr>
              <a:t>Project constraints</a:t>
            </a:r>
          </a:p>
          <a:p>
            <a:pPr lvl="2"/>
            <a:r>
              <a:rPr lang="en-IN" dirty="0">
                <a:latin typeface="Times New Roman" panose="02020603050405020304" pitchFamily="18" charset="0"/>
              </a:rPr>
              <a:t>Delivery date, budgets etc…</a:t>
            </a:r>
          </a:p>
          <a:p>
            <a:pPr lvl="1"/>
            <a:r>
              <a:rPr lang="en-IN" dirty="0">
                <a:latin typeface="Times New Roman" panose="02020603050405020304" pitchFamily="18" charset="0"/>
              </a:rPr>
              <a:t>Basic requirements of the project</a:t>
            </a:r>
          </a:p>
        </p:txBody>
      </p:sp>
      <p:sp>
        <p:nvSpPr>
          <p:cNvPr id="3" name="Slide Number Placeholder 2"/>
          <p:cNvSpPr>
            <a:spLocks noGrp="1"/>
          </p:cNvSpPr>
          <p:nvPr>
            <p:ph type="sldNum" sz="quarter" idx="12"/>
          </p:nvPr>
        </p:nvSpPr>
        <p:spPr/>
        <p:txBody>
          <a:bodyPr/>
          <a:lstStyle/>
          <a:p>
            <a:fld id="{5EA8BEFB-AE5B-48F9-BBAD-B489CDE48C80}" type="slidenum">
              <a:rPr lang="en-US" smtClean="0">
                <a:latin typeface="Times New Roman" panose="02020603050405020304" pitchFamily="18" charset="0"/>
                <a:cs typeface="Times New Roman" panose="02020603050405020304" pitchFamily="18" charset="0"/>
              </a:rPr>
              <a:pPr/>
              <a:t>18</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81684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Collaboration</a:t>
            </a:r>
            <a:endParaRPr lang="en-IN" dirty="0">
              <a:latin typeface="Times New Roman" panose="02020603050405020304" pitchFamily="18" charset="0"/>
              <a:cs typeface="Times New Roman" panose="02020603050405020304" pitchFamily="18" charset="0"/>
            </a:endParaRPr>
          </a:p>
        </p:txBody>
      </p:sp>
      <p:sp>
        <p:nvSpPr>
          <p:cNvPr id="33" name="Content Placeholder 2"/>
          <p:cNvSpPr>
            <a:spLocks noGrp="1"/>
          </p:cNvSpPr>
          <p:nvPr>
            <p:ph idx="1"/>
          </p:nvPr>
        </p:nvSpPr>
        <p:spPr/>
        <p:txBody>
          <a:bodyPr/>
          <a:lstStyle/>
          <a:p>
            <a:r>
              <a:rPr lang="en-IN" dirty="0">
                <a:latin typeface="Times New Roman" panose="02020603050405020304" pitchFamily="18" charset="0"/>
              </a:rPr>
              <a:t>In this, collaboration among the members of development team is a key factor.</a:t>
            </a:r>
          </a:p>
          <a:p>
            <a:r>
              <a:rPr lang="en-IN" dirty="0">
                <a:latin typeface="Times New Roman" panose="02020603050405020304" pitchFamily="18" charset="0"/>
              </a:rPr>
              <a:t>For successful collaboration and coordination it is necessary to have following qualities in every individual</a:t>
            </a:r>
          </a:p>
          <a:p>
            <a:pPr lvl="1"/>
            <a:r>
              <a:rPr lang="en-IN" dirty="0">
                <a:latin typeface="Times New Roman" panose="02020603050405020304" pitchFamily="18" charset="0"/>
              </a:rPr>
              <a:t>Assist each other without offense</a:t>
            </a:r>
          </a:p>
          <a:p>
            <a:pPr lvl="1"/>
            <a:r>
              <a:rPr lang="en-IN" dirty="0">
                <a:latin typeface="Times New Roman" panose="02020603050405020304" pitchFamily="18" charset="0"/>
              </a:rPr>
              <a:t>Work hard</a:t>
            </a:r>
          </a:p>
          <a:p>
            <a:pPr lvl="1"/>
            <a:r>
              <a:rPr lang="en-IN" dirty="0">
                <a:latin typeface="Times New Roman" panose="02020603050405020304" pitchFamily="18" charset="0"/>
              </a:rPr>
              <a:t>Posses the required skill set</a:t>
            </a:r>
          </a:p>
          <a:p>
            <a:pPr lvl="1"/>
            <a:r>
              <a:rPr lang="en-IN" dirty="0">
                <a:latin typeface="Times New Roman" panose="02020603050405020304" pitchFamily="18" charset="0"/>
              </a:rPr>
              <a:t>Communicate problems and help each other</a:t>
            </a:r>
          </a:p>
          <a:p>
            <a:pPr lvl="1"/>
            <a:r>
              <a:rPr lang="en-IN" dirty="0">
                <a:latin typeface="Times New Roman" panose="02020603050405020304" pitchFamily="18" charset="0"/>
              </a:rPr>
              <a:t>Criticize without any hate</a:t>
            </a:r>
          </a:p>
          <a:p>
            <a:pPr lvl="1"/>
            <a:endParaRPr lang="en-IN" dirty="0">
              <a:latin typeface="Times New Roman" panose="02020603050405020304" pitchFamily="18" charset="0"/>
            </a:endParaRPr>
          </a:p>
          <a:p>
            <a:pPr lvl="1"/>
            <a:endParaRPr lang="en-IN" dirty="0">
              <a:latin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5EA8BEFB-AE5B-48F9-BBAD-B489CDE48C80}" type="slidenum">
              <a:rPr lang="en-US" smtClean="0">
                <a:latin typeface="Times New Roman" panose="02020603050405020304" pitchFamily="18" charset="0"/>
                <a:cs typeface="Times New Roman" panose="02020603050405020304" pitchFamily="18" charset="0"/>
              </a:rPr>
              <a:pPr/>
              <a:t>19</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08359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atin typeface="Times New Roman" panose="02020603050405020304" pitchFamily="18" charset="0"/>
                <a:cs typeface="Times New Roman" panose="02020603050405020304" pitchFamily="18" charset="0"/>
              </a:rPr>
              <a:t>Learning</a:t>
            </a:r>
            <a:endParaRPr lang="en-IN" dirty="0">
              <a:latin typeface="Times New Roman" panose="02020603050405020304" pitchFamily="18" charset="0"/>
              <a:cs typeface="Times New Roman" panose="02020603050405020304" pitchFamily="18" charset="0"/>
            </a:endParaRPr>
          </a:p>
        </p:txBody>
      </p:sp>
      <p:sp>
        <p:nvSpPr>
          <p:cNvPr id="33" name="Content Placeholder 2"/>
          <p:cNvSpPr>
            <a:spLocks noGrp="1"/>
          </p:cNvSpPr>
          <p:nvPr>
            <p:ph idx="1"/>
          </p:nvPr>
        </p:nvSpPr>
        <p:spPr/>
        <p:txBody>
          <a:bodyPr/>
          <a:lstStyle/>
          <a:p>
            <a:r>
              <a:rPr lang="en-IN" dirty="0">
                <a:latin typeface="Times New Roman" panose="02020603050405020304" pitchFamily="18" charset="0"/>
              </a:rPr>
              <a:t>Emphasize is on learning new skills and techniques.</a:t>
            </a:r>
          </a:p>
          <a:p>
            <a:r>
              <a:rPr lang="en-IN" dirty="0">
                <a:latin typeface="Times New Roman" panose="02020603050405020304" pitchFamily="18" charset="0"/>
              </a:rPr>
              <a:t>There are three ways by which the team members learn</a:t>
            </a:r>
          </a:p>
          <a:p>
            <a:pPr lvl="1"/>
            <a:r>
              <a:rPr lang="en-IN" dirty="0">
                <a:latin typeface="Times New Roman" panose="02020603050405020304" pitchFamily="18" charset="0"/>
              </a:rPr>
              <a:t>Focus groups</a:t>
            </a:r>
          </a:p>
          <a:p>
            <a:pPr lvl="2"/>
            <a:r>
              <a:rPr lang="en-IN" dirty="0">
                <a:latin typeface="Times New Roman" panose="02020603050405020304" pitchFamily="18" charset="0"/>
              </a:rPr>
              <a:t>The feedback from the end-users is obtained.</a:t>
            </a:r>
          </a:p>
          <a:p>
            <a:pPr lvl="1"/>
            <a:r>
              <a:rPr lang="en-IN" dirty="0">
                <a:latin typeface="Times New Roman" panose="02020603050405020304" pitchFamily="18" charset="0"/>
              </a:rPr>
              <a:t>Formal technical review</a:t>
            </a:r>
          </a:p>
          <a:p>
            <a:pPr lvl="2"/>
            <a:r>
              <a:rPr lang="en-IN" dirty="0">
                <a:latin typeface="Times New Roman" panose="02020603050405020304" pitchFamily="18" charset="0"/>
              </a:rPr>
              <a:t>This review is conducted for better quality.</a:t>
            </a:r>
          </a:p>
          <a:p>
            <a:pPr lvl="1"/>
            <a:r>
              <a:rPr lang="en-IN" dirty="0" err="1">
                <a:latin typeface="Times New Roman" panose="02020603050405020304" pitchFamily="18" charset="0"/>
              </a:rPr>
              <a:t>Postmortems</a:t>
            </a:r>
            <a:endParaRPr lang="en-IN" dirty="0">
              <a:latin typeface="Times New Roman" panose="02020603050405020304" pitchFamily="18" charset="0"/>
            </a:endParaRPr>
          </a:p>
          <a:p>
            <a:pPr lvl="2"/>
            <a:r>
              <a:rPr lang="en-IN" dirty="0">
                <a:latin typeface="Times New Roman" panose="02020603050405020304" pitchFamily="18" charset="0"/>
              </a:rPr>
              <a:t>Team analyses its own performance and makes appropriate improvements.</a:t>
            </a:r>
          </a:p>
        </p:txBody>
      </p:sp>
      <p:sp>
        <p:nvSpPr>
          <p:cNvPr id="3" name="Slide Number Placeholder 2"/>
          <p:cNvSpPr>
            <a:spLocks noGrp="1"/>
          </p:cNvSpPr>
          <p:nvPr>
            <p:ph type="sldNum" sz="quarter" idx="12"/>
          </p:nvPr>
        </p:nvSpPr>
        <p:spPr/>
        <p:txBody>
          <a:bodyPr/>
          <a:lstStyle/>
          <a:p>
            <a:fld id="{5EA8BEFB-AE5B-48F9-BBAD-B489CDE48C80}" type="slidenum">
              <a:rPr lang="en-US" smtClean="0">
                <a:latin typeface="Times New Roman" panose="02020603050405020304" pitchFamily="18" charset="0"/>
                <a:cs typeface="Times New Roman" panose="02020603050405020304" pitchFamily="18" charset="0"/>
              </a:rPr>
              <a:pPr/>
              <a:t>20</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5807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DSDM</a:t>
            </a:r>
          </a:p>
        </p:txBody>
      </p:sp>
      <p:sp>
        <p:nvSpPr>
          <p:cNvPr id="33" name="Content Placeholder 2"/>
          <p:cNvSpPr>
            <a:spLocks noGrp="1"/>
          </p:cNvSpPr>
          <p:nvPr>
            <p:ph idx="1"/>
          </p:nvPr>
        </p:nvSpPr>
        <p:spPr/>
        <p:txBody>
          <a:bodyPr/>
          <a:lstStyle/>
          <a:p>
            <a:endParaRPr lang="en-US" b="0" i="0" dirty="0">
              <a:solidFill>
                <a:srgbClr val="333333"/>
              </a:solidFill>
              <a:effectLst/>
              <a:latin typeface="TTNormsPro-Regular"/>
            </a:endParaRPr>
          </a:p>
          <a:p>
            <a:r>
              <a:rPr lang="en-US" b="0" i="0" dirty="0">
                <a:effectLst/>
                <a:latin typeface="+mn-lt"/>
              </a:rPr>
              <a:t>The Dynamic Systems Development Method (DSDM) is an </a:t>
            </a:r>
            <a:r>
              <a:rPr lang="en-US" dirty="0">
                <a:latin typeface="+mn-lt"/>
              </a:rPr>
              <a:t>agile framework</a:t>
            </a:r>
            <a:r>
              <a:rPr lang="en-US" b="0" i="0" dirty="0">
                <a:effectLst/>
                <a:latin typeface="+mn-lt"/>
              </a:rPr>
              <a:t> that addresses the entire project lifecycle and its impact on the business. </a:t>
            </a:r>
          </a:p>
          <a:p>
            <a:r>
              <a:rPr lang="en-US" b="0" i="0" dirty="0">
                <a:effectLst/>
                <a:latin typeface="+mn-lt"/>
              </a:rPr>
              <a:t>Like the broader agile philosophy, DSDM is an iterative approach to software development, and this framework explicitly states “any project must be aligned to clearly defined strategic goals and focus upon early deliver of real benefits to the business.</a:t>
            </a:r>
            <a:endParaRPr lang="en-IN" dirty="0">
              <a:latin typeface="+mn-lt"/>
            </a:endParaRP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8BEFB-AE5B-48F9-BBAD-B489CDE48C80}" type="slidenum">
              <a:rPr kumimoji="0" lang="en-US" sz="14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4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9022758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3. Dynamic Systems Development Methods (DSDM)</a:t>
            </a:r>
          </a:p>
        </p:txBody>
      </p:sp>
      <p:sp>
        <p:nvSpPr>
          <p:cNvPr id="33" name="Content Placeholder 2"/>
          <p:cNvSpPr>
            <a:spLocks noGrp="1"/>
          </p:cNvSpPr>
          <p:nvPr>
            <p:ph idx="1"/>
          </p:nvPr>
        </p:nvSpPr>
        <p:spPr/>
        <p:txBody>
          <a:bodyPr/>
          <a:lstStyle/>
          <a:p>
            <a:r>
              <a:rPr lang="en-IN" sz="2000" dirty="0"/>
              <a:t>Various phases of this life cycle model</a:t>
            </a:r>
          </a:p>
          <a:p>
            <a:pPr lvl="1"/>
            <a:r>
              <a:rPr lang="en-IN" sz="2000" dirty="0"/>
              <a:t>Feasibility study</a:t>
            </a:r>
          </a:p>
          <a:p>
            <a:pPr lvl="2"/>
            <a:r>
              <a:rPr lang="en-IN" sz="1800" dirty="0"/>
              <a:t>the viability of the application is determined</a:t>
            </a:r>
          </a:p>
          <a:p>
            <a:pPr lvl="1"/>
            <a:r>
              <a:rPr lang="en-IN" sz="2000" dirty="0"/>
              <a:t>Business study</a:t>
            </a:r>
          </a:p>
          <a:p>
            <a:pPr lvl="2"/>
            <a:r>
              <a:rPr lang="en-IN" sz="1800" dirty="0"/>
              <a:t>The functional and informational requirements are identified and then the business value of the application is determined</a:t>
            </a:r>
          </a:p>
          <a:p>
            <a:pPr lvl="1"/>
            <a:r>
              <a:rPr lang="en-IN" sz="2000" dirty="0"/>
              <a:t>Functional model iteration</a:t>
            </a:r>
          </a:p>
          <a:p>
            <a:pPr lvl="2"/>
            <a:r>
              <a:rPr lang="en-IN" sz="1800" dirty="0"/>
              <a:t>The incremental approach is adopted for development</a:t>
            </a:r>
          </a:p>
          <a:p>
            <a:pPr lvl="1"/>
            <a:r>
              <a:rPr lang="en-IN" sz="2000" dirty="0"/>
              <a:t>Design and build iteration</a:t>
            </a:r>
          </a:p>
          <a:p>
            <a:pPr lvl="2"/>
            <a:r>
              <a:rPr lang="en-IN" sz="1800" dirty="0"/>
              <a:t>If possible, design and build activities can be carried out in parallel</a:t>
            </a:r>
          </a:p>
          <a:p>
            <a:pPr lvl="1"/>
            <a:r>
              <a:rPr lang="en-IN" sz="2000" dirty="0"/>
              <a:t>Implementation</a:t>
            </a:r>
          </a:p>
          <a:p>
            <a:pPr lvl="2"/>
            <a:r>
              <a:rPr lang="en-IN" sz="1800" dirty="0"/>
              <a:t>The software increment is placed in the working environment</a:t>
            </a:r>
          </a:p>
          <a:p>
            <a:r>
              <a:rPr lang="en-IN" sz="2000" dirty="0"/>
              <a:t>The DSDM can be combined with XP method or ASD concepts to create combinational model.</a:t>
            </a:r>
          </a:p>
          <a:p>
            <a:pPr lvl="2"/>
            <a:endParaRPr lang="en-IN" sz="1800" dirty="0"/>
          </a:p>
        </p:txBody>
      </p:sp>
      <p:sp>
        <p:nvSpPr>
          <p:cNvPr id="3" name="Slide Number Placeholder 2"/>
          <p:cNvSpPr>
            <a:spLocks noGrp="1"/>
          </p:cNvSpPr>
          <p:nvPr>
            <p:ph type="sldNum" sz="quarter" idx="12"/>
          </p:nvPr>
        </p:nvSpPr>
        <p:spPr/>
        <p:txBody>
          <a:bodyPr/>
          <a:lstStyle/>
          <a:p>
            <a:fld id="{5EA8BEFB-AE5B-48F9-BBAD-B489CDE48C80}" type="slidenum">
              <a:rPr lang="en-US" smtClean="0"/>
              <a:pPr/>
              <a:t>22</a:t>
            </a:fld>
            <a:endParaRPr lang="en-US"/>
          </a:p>
        </p:txBody>
      </p:sp>
    </p:spTree>
    <p:extLst>
      <p:ext uri="{BB962C8B-B14F-4D97-AF65-F5344CB8AC3E}">
        <p14:creationId xmlns:p14="http://schemas.microsoft.com/office/powerpoint/2010/main" val="9041396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3. Dynamic Systems Development Methods (DSDM)</a:t>
            </a:r>
          </a:p>
        </p:txBody>
      </p:sp>
      <p:sp>
        <p:nvSpPr>
          <p:cNvPr id="33" name="Content Placeholder 2"/>
          <p:cNvSpPr>
            <a:spLocks noGrp="1"/>
          </p:cNvSpPr>
          <p:nvPr>
            <p:ph idx="1"/>
          </p:nvPr>
        </p:nvSpPr>
        <p:spPr/>
        <p:txBody>
          <a:bodyPr/>
          <a:lstStyle/>
          <a:p>
            <a:pPr algn="l"/>
            <a:endParaRPr lang="en-US" sz="1600" b="0" i="0" dirty="0">
              <a:solidFill>
                <a:srgbClr val="000000"/>
              </a:solidFill>
              <a:effectLst/>
              <a:latin typeface="TTNormsPro-Bold"/>
            </a:endParaRPr>
          </a:p>
          <a:p>
            <a:r>
              <a:rPr lang="en-US" b="1" i="0" dirty="0">
                <a:solidFill>
                  <a:srgbClr val="000000"/>
                </a:solidFill>
                <a:effectLst/>
                <a:latin typeface="+mn-lt"/>
              </a:rPr>
              <a:t>DSDM’s strengths include:</a:t>
            </a:r>
          </a:p>
          <a:p>
            <a:pPr>
              <a:buFont typeface="Arial" panose="020B0604020202020204" pitchFamily="34" charset="0"/>
              <a:buChar char="•"/>
            </a:pPr>
            <a:r>
              <a:rPr lang="en-US" b="0" i="0" dirty="0">
                <a:solidFill>
                  <a:srgbClr val="333333"/>
                </a:solidFill>
                <a:effectLst/>
                <a:latin typeface="+mn-lt"/>
              </a:rPr>
              <a:t>Basic product functionality can be delivered rapidly</a:t>
            </a:r>
          </a:p>
          <a:p>
            <a:pPr>
              <a:buFont typeface="Arial" panose="020B0604020202020204" pitchFamily="34" charset="0"/>
              <a:buChar char="•"/>
            </a:pPr>
            <a:r>
              <a:rPr lang="en-US" b="0" i="0" dirty="0">
                <a:solidFill>
                  <a:srgbClr val="333333"/>
                </a:solidFill>
                <a:effectLst/>
                <a:latin typeface="+mn-lt"/>
              </a:rPr>
              <a:t>Developers have easy access to end-users</a:t>
            </a:r>
          </a:p>
          <a:p>
            <a:pPr>
              <a:buFont typeface="Arial" panose="020B0604020202020204" pitchFamily="34" charset="0"/>
              <a:buChar char="•"/>
            </a:pPr>
            <a:r>
              <a:rPr lang="en-US" b="0" i="0" dirty="0">
                <a:solidFill>
                  <a:srgbClr val="333333"/>
                </a:solidFill>
                <a:effectLst/>
                <a:latin typeface="+mn-lt"/>
              </a:rPr>
              <a:t>Projects are reliably completed on time</a:t>
            </a:r>
          </a:p>
          <a:p>
            <a:pPr>
              <a:buFont typeface="Arial" panose="020B0604020202020204" pitchFamily="34" charset="0"/>
              <a:buChar char="•"/>
            </a:pPr>
            <a:endParaRPr lang="en-US" b="0" i="0" dirty="0">
              <a:solidFill>
                <a:srgbClr val="333333"/>
              </a:solidFill>
              <a:effectLst/>
              <a:latin typeface="+mn-lt"/>
            </a:endParaRPr>
          </a:p>
          <a:p>
            <a:r>
              <a:rPr lang="en-US" b="1" i="0" dirty="0">
                <a:solidFill>
                  <a:srgbClr val="000000"/>
                </a:solidFill>
                <a:effectLst/>
                <a:latin typeface="+mn-lt"/>
              </a:rPr>
              <a:t>DSDM’s weaknesses include:</a:t>
            </a:r>
          </a:p>
          <a:p>
            <a:pPr>
              <a:buFont typeface="Arial" panose="020B0604020202020204" pitchFamily="34" charset="0"/>
              <a:buChar char="•"/>
            </a:pPr>
            <a:r>
              <a:rPr lang="en-US" b="0" i="0" dirty="0">
                <a:solidFill>
                  <a:srgbClr val="333333"/>
                </a:solidFill>
                <a:effectLst/>
                <a:latin typeface="+mn-lt"/>
              </a:rPr>
              <a:t>Can represent a dramatic and disruptive change in company culture</a:t>
            </a:r>
          </a:p>
          <a:p>
            <a:pPr>
              <a:buFont typeface="Arial" panose="020B0604020202020204" pitchFamily="34" charset="0"/>
              <a:buChar char="•"/>
            </a:pPr>
            <a:r>
              <a:rPr lang="en-US" b="0" i="0" dirty="0">
                <a:solidFill>
                  <a:srgbClr val="333333"/>
                </a:solidFill>
                <a:effectLst/>
                <a:latin typeface="+mn-lt"/>
              </a:rPr>
              <a:t>Costly to implement</a:t>
            </a:r>
          </a:p>
          <a:p>
            <a:pPr>
              <a:buFont typeface="Arial" panose="020B0604020202020204" pitchFamily="34" charset="0"/>
              <a:buChar char="•"/>
            </a:pPr>
            <a:r>
              <a:rPr lang="en-US" b="0" i="0" dirty="0">
                <a:solidFill>
                  <a:srgbClr val="333333"/>
                </a:solidFill>
                <a:effectLst/>
                <a:latin typeface="+mn-lt"/>
              </a:rPr>
              <a:t>Not ideal for small organizations</a:t>
            </a:r>
          </a:p>
          <a:p>
            <a:pPr marL="914400" lvl="2" indent="0">
              <a:buNone/>
            </a:pPr>
            <a:endParaRPr lang="en-IN" sz="1800" dirty="0"/>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8BEFB-AE5B-48F9-BBAD-B489CDE48C80}" type="slidenum">
              <a:rPr kumimoji="0" lang="en-US" sz="14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4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2981295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4. Scrum</a:t>
            </a:r>
          </a:p>
        </p:txBody>
      </p:sp>
      <p:sp>
        <p:nvSpPr>
          <p:cNvPr id="33" name="Content Placeholder 2"/>
          <p:cNvSpPr>
            <a:spLocks noGrp="1"/>
          </p:cNvSpPr>
          <p:nvPr>
            <p:ph idx="1"/>
          </p:nvPr>
        </p:nvSpPr>
        <p:spPr/>
        <p:txBody>
          <a:bodyPr/>
          <a:lstStyle/>
          <a:p>
            <a:pPr lvl="0"/>
            <a:r>
              <a:rPr lang="en-US" dirty="0"/>
              <a:t>This model is developed by Jeff Sutherland and Ken </a:t>
            </a:r>
            <a:r>
              <a:rPr lang="en-US" dirty="0" err="1"/>
              <a:t>Schwaber</a:t>
            </a:r>
            <a:r>
              <a:rPr lang="en-US" dirty="0"/>
              <a:t> in 1995.</a:t>
            </a:r>
          </a:p>
          <a:p>
            <a:pPr lvl="0"/>
            <a:r>
              <a:rPr lang="en-US" dirty="0"/>
              <a:t>Scrum </a:t>
            </a:r>
            <a:r>
              <a:rPr lang="en-IN" dirty="0"/>
              <a:t>is an agile process model which is used for developing the complex software systems.</a:t>
            </a:r>
          </a:p>
          <a:p>
            <a:pPr lvl="0"/>
            <a:r>
              <a:rPr lang="en-IN" dirty="0"/>
              <a:t>It is a lightweight process framework.</a:t>
            </a:r>
          </a:p>
          <a:p>
            <a:pPr lvl="0"/>
            <a:r>
              <a:rPr lang="en-IN" dirty="0"/>
              <a:t>Lightweight means the overhead of the process is kept as small as possible in order to maximize the productivity.</a:t>
            </a:r>
          </a:p>
        </p:txBody>
      </p:sp>
      <p:sp>
        <p:nvSpPr>
          <p:cNvPr id="3" name="Slide Number Placeholder 2"/>
          <p:cNvSpPr>
            <a:spLocks noGrp="1"/>
          </p:cNvSpPr>
          <p:nvPr>
            <p:ph type="sldNum" sz="quarter" idx="12"/>
          </p:nvPr>
        </p:nvSpPr>
        <p:spPr/>
        <p:txBody>
          <a:bodyPr/>
          <a:lstStyle/>
          <a:p>
            <a:fld id="{5EA8BEFB-AE5B-48F9-BBAD-B489CDE48C80}" type="slidenum">
              <a:rPr lang="en-US" smtClean="0"/>
              <a:pPr/>
              <a:t>24</a:t>
            </a:fld>
            <a:endParaRPr lang="en-US"/>
          </a:p>
        </p:txBody>
      </p:sp>
    </p:spTree>
    <p:extLst>
      <p:ext uri="{BB962C8B-B14F-4D97-AF65-F5344CB8AC3E}">
        <p14:creationId xmlns:p14="http://schemas.microsoft.com/office/powerpoint/2010/main" val="35108977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Scrum Principles</a:t>
            </a:r>
          </a:p>
        </p:txBody>
      </p:sp>
      <p:sp>
        <p:nvSpPr>
          <p:cNvPr id="33" name="Content Placeholder 2"/>
          <p:cNvSpPr>
            <a:spLocks noGrp="1"/>
          </p:cNvSpPr>
          <p:nvPr>
            <p:ph idx="1"/>
          </p:nvPr>
        </p:nvSpPr>
        <p:spPr/>
        <p:txBody>
          <a:bodyPr/>
          <a:lstStyle/>
          <a:p>
            <a:pPr marL="457200" lvl="0" indent="-457200">
              <a:buFont typeface="+mj-lt"/>
              <a:buAutoNum type="arabicPeriod"/>
            </a:pPr>
            <a:r>
              <a:rPr lang="en-IN" dirty="0"/>
              <a:t>There are small working teams on the projects due to which there is maximum communication and minimum overhead.</a:t>
            </a:r>
          </a:p>
          <a:p>
            <a:pPr marL="457200" lvl="0" indent="-457200">
              <a:buFont typeface="+mj-lt"/>
              <a:buAutoNum type="arabicPeriod"/>
            </a:pPr>
            <a:r>
              <a:rPr lang="en-IN" dirty="0"/>
              <a:t>The task of people must be partitioned into small and clean packets.</a:t>
            </a:r>
          </a:p>
          <a:p>
            <a:pPr marL="457200" lvl="0" indent="-457200">
              <a:buFont typeface="+mj-lt"/>
              <a:buAutoNum type="arabicPeriod"/>
            </a:pPr>
            <a:r>
              <a:rPr lang="en-IN" dirty="0"/>
              <a:t>The process must accommodate the technical or business changes if they occur.</a:t>
            </a:r>
          </a:p>
          <a:p>
            <a:pPr marL="457200" lvl="0" indent="-457200">
              <a:buFont typeface="+mj-lt"/>
              <a:buAutoNum type="arabicPeriod"/>
            </a:pPr>
            <a:r>
              <a:rPr lang="en-IN" dirty="0"/>
              <a:t>The process should produce software increments.</a:t>
            </a:r>
          </a:p>
          <a:p>
            <a:pPr marL="457200" lvl="0" indent="-457200">
              <a:buFont typeface="+mj-lt"/>
              <a:buAutoNum type="arabicPeriod"/>
            </a:pPr>
            <a:r>
              <a:rPr lang="en-IN" dirty="0"/>
              <a:t>During product building the constant testing and documentation must be conducted.</a:t>
            </a:r>
          </a:p>
          <a:p>
            <a:pPr marL="457200" lvl="0" indent="-457200">
              <a:buFont typeface="+mj-lt"/>
              <a:buAutoNum type="arabicPeriod"/>
            </a:pPr>
            <a:r>
              <a:rPr lang="en-IN" dirty="0"/>
              <a:t>The SCRUM process must produce the working model of the product whenever required.</a:t>
            </a:r>
          </a:p>
        </p:txBody>
      </p:sp>
      <p:sp>
        <p:nvSpPr>
          <p:cNvPr id="3" name="Slide Number Placeholder 2"/>
          <p:cNvSpPr>
            <a:spLocks noGrp="1"/>
          </p:cNvSpPr>
          <p:nvPr>
            <p:ph type="sldNum" sz="quarter" idx="12"/>
          </p:nvPr>
        </p:nvSpPr>
        <p:spPr/>
        <p:txBody>
          <a:bodyPr/>
          <a:lstStyle/>
          <a:p>
            <a:fld id="{5EA8BEFB-AE5B-48F9-BBAD-B489CDE48C80}" type="slidenum">
              <a:rPr lang="en-US" smtClean="0"/>
              <a:pPr/>
              <a:t>25</a:t>
            </a:fld>
            <a:endParaRPr lang="en-US"/>
          </a:p>
        </p:txBody>
      </p:sp>
    </p:spTree>
    <p:extLst>
      <p:ext uri="{BB962C8B-B14F-4D97-AF65-F5344CB8AC3E}">
        <p14:creationId xmlns:p14="http://schemas.microsoft.com/office/powerpoint/2010/main" val="13409056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Scrum Development Activities</a:t>
            </a:r>
          </a:p>
        </p:txBody>
      </p:sp>
      <p:sp>
        <p:nvSpPr>
          <p:cNvPr id="6" name="Content Placeholder 5"/>
          <p:cNvSpPr>
            <a:spLocks noGrp="1"/>
          </p:cNvSpPr>
          <p:nvPr>
            <p:ph idx="1"/>
          </p:nvPr>
        </p:nvSpPr>
        <p:spPr/>
        <p:txBody>
          <a:bodyPr/>
          <a:lstStyle/>
          <a:p>
            <a:pPr marL="457200" indent="-457200">
              <a:buFont typeface="+mj-lt"/>
              <a:buAutoNum type="arabicPeriod"/>
            </a:pPr>
            <a:r>
              <a:rPr lang="en-IN" dirty="0"/>
              <a:t>Backlog</a:t>
            </a:r>
          </a:p>
          <a:p>
            <a:pPr marL="857250" lvl="1" indent="-457200"/>
            <a:r>
              <a:rPr lang="en-IN" dirty="0"/>
              <a:t>It is a list of project requirements or features that must be provided to the customer.</a:t>
            </a:r>
          </a:p>
          <a:p>
            <a:pPr marL="857250" lvl="1" indent="-457200"/>
            <a:r>
              <a:rPr lang="en-IN" dirty="0"/>
              <a:t>The items can be included in the backlog at any time.</a:t>
            </a:r>
          </a:p>
          <a:p>
            <a:pPr marL="857250" lvl="1" indent="-457200"/>
            <a:r>
              <a:rPr lang="en-IN" dirty="0"/>
              <a:t>The product manager analyses this list and updates the priorities as per the requirements.</a:t>
            </a:r>
          </a:p>
          <a:p>
            <a:pPr marL="457200" indent="-457200">
              <a:buFont typeface="+mj-lt"/>
              <a:buAutoNum type="arabicPeriod"/>
            </a:pPr>
            <a:r>
              <a:rPr lang="en-IN" dirty="0"/>
              <a:t>Sprint</a:t>
            </a:r>
          </a:p>
          <a:p>
            <a:pPr marL="857250" lvl="1" indent="-457200"/>
            <a:r>
              <a:rPr lang="en-IN" dirty="0"/>
              <a:t>These are the work units that are needed to achieve the requirements mentioned in the backlogs.</a:t>
            </a:r>
          </a:p>
          <a:p>
            <a:pPr marL="857250" lvl="1" indent="-457200"/>
            <a:r>
              <a:rPr lang="en-IN" dirty="0"/>
              <a:t>Typically the sprints have fixed duration or time box (of 2 to 4 weeks).</a:t>
            </a:r>
          </a:p>
          <a:p>
            <a:pPr marL="857250" lvl="1" indent="-457200"/>
            <a:r>
              <a:rPr lang="en-IN" dirty="0"/>
              <a:t>Thus sprints allow the team members to work in stable and short-term environment.</a:t>
            </a:r>
          </a:p>
        </p:txBody>
      </p:sp>
      <p:sp>
        <p:nvSpPr>
          <p:cNvPr id="3" name="Slide Number Placeholder 2"/>
          <p:cNvSpPr>
            <a:spLocks noGrp="1"/>
          </p:cNvSpPr>
          <p:nvPr>
            <p:ph type="sldNum" sz="quarter" idx="12"/>
          </p:nvPr>
        </p:nvSpPr>
        <p:spPr/>
        <p:txBody>
          <a:bodyPr/>
          <a:lstStyle/>
          <a:p>
            <a:fld id="{5EA8BEFB-AE5B-48F9-BBAD-B489CDE48C80}" type="slidenum">
              <a:rPr lang="en-US" smtClean="0"/>
              <a:pPr/>
              <a:t>26</a:t>
            </a:fld>
            <a:endParaRPr lang="en-US"/>
          </a:p>
        </p:txBody>
      </p:sp>
    </p:spTree>
    <p:extLst>
      <p:ext uri="{BB962C8B-B14F-4D97-AF65-F5344CB8AC3E}">
        <p14:creationId xmlns:p14="http://schemas.microsoft.com/office/powerpoint/2010/main" val="15559570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Scrum Development Activities</a:t>
            </a:r>
          </a:p>
        </p:txBody>
      </p:sp>
      <p:sp>
        <p:nvSpPr>
          <p:cNvPr id="6" name="Content Placeholder 5"/>
          <p:cNvSpPr>
            <a:spLocks noGrp="1"/>
          </p:cNvSpPr>
          <p:nvPr>
            <p:ph idx="1"/>
          </p:nvPr>
        </p:nvSpPr>
        <p:spPr/>
        <p:txBody>
          <a:bodyPr/>
          <a:lstStyle/>
          <a:p>
            <a:pPr marL="457200" indent="-457200">
              <a:buFont typeface="+mj-lt"/>
              <a:buAutoNum type="arabicPeriod" startAt="3"/>
            </a:pPr>
            <a:r>
              <a:rPr lang="en-IN" dirty="0"/>
              <a:t>Meetings</a:t>
            </a:r>
          </a:p>
          <a:p>
            <a:pPr marL="857250" lvl="1" indent="-457200"/>
            <a:r>
              <a:rPr lang="en-IN" dirty="0"/>
              <a:t>There are 15 minutes daily meetings to report the completed activities, obstacles and plan for next activities.</a:t>
            </a:r>
          </a:p>
          <a:p>
            <a:pPr marL="857250" lvl="1" indent="-457200"/>
            <a:r>
              <a:rPr lang="en-IN" dirty="0"/>
              <a:t>Following are three questions that are mainly discussed during the meetings.</a:t>
            </a:r>
          </a:p>
          <a:p>
            <a:pPr marL="1257300" lvl="2" indent="-457200">
              <a:buFont typeface="+mj-lt"/>
              <a:buAutoNum type="arabicPeriod"/>
            </a:pPr>
            <a:r>
              <a:rPr lang="en-IN" dirty="0"/>
              <a:t>What are the tasks done since last meeting ?</a:t>
            </a:r>
          </a:p>
          <a:p>
            <a:pPr marL="1257300" lvl="2" indent="-457200">
              <a:buFont typeface="+mj-lt"/>
              <a:buAutoNum type="arabicPeriod"/>
            </a:pPr>
            <a:r>
              <a:rPr lang="en-IN" dirty="0"/>
              <a:t>What are the issues that team is facing ?</a:t>
            </a:r>
          </a:p>
          <a:p>
            <a:pPr marL="1257300" lvl="2" indent="-457200">
              <a:buFont typeface="+mj-lt"/>
              <a:buAutoNum type="arabicPeriod"/>
            </a:pPr>
            <a:r>
              <a:rPr lang="en-IN" dirty="0"/>
              <a:t>What are the next activities that are planned ?</a:t>
            </a:r>
          </a:p>
          <a:p>
            <a:pPr marL="457200" indent="-457200">
              <a:buFont typeface="+mj-lt"/>
              <a:buAutoNum type="arabicPeriod" startAt="3"/>
            </a:pPr>
            <a:r>
              <a:rPr lang="en-IN" dirty="0"/>
              <a:t>Demo</a:t>
            </a:r>
          </a:p>
          <a:p>
            <a:pPr marL="857250" lvl="1" indent="-457200"/>
            <a:r>
              <a:rPr lang="en-IN" dirty="0"/>
              <a:t>During this phase implemented functionalities are demonstrated to the customer.</a:t>
            </a:r>
          </a:p>
        </p:txBody>
      </p:sp>
      <p:sp>
        <p:nvSpPr>
          <p:cNvPr id="3" name="Slide Number Placeholder 2"/>
          <p:cNvSpPr>
            <a:spLocks noGrp="1"/>
          </p:cNvSpPr>
          <p:nvPr>
            <p:ph type="sldNum" sz="quarter" idx="12"/>
          </p:nvPr>
        </p:nvSpPr>
        <p:spPr/>
        <p:txBody>
          <a:bodyPr/>
          <a:lstStyle/>
          <a:p>
            <a:fld id="{5EA8BEFB-AE5B-48F9-BBAD-B489CDE48C80}" type="slidenum">
              <a:rPr lang="en-US" smtClean="0"/>
              <a:pPr/>
              <a:t>27</a:t>
            </a:fld>
            <a:endParaRPr lang="en-US"/>
          </a:p>
        </p:txBody>
      </p:sp>
    </p:spTree>
    <p:extLst>
      <p:ext uri="{BB962C8B-B14F-4D97-AF65-F5344CB8AC3E}">
        <p14:creationId xmlns:p14="http://schemas.microsoft.com/office/powerpoint/2010/main" val="33766669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Roles (Scrum)</a:t>
            </a:r>
            <a:endParaRPr lang="en-IN" dirty="0"/>
          </a:p>
        </p:txBody>
      </p:sp>
      <p:sp>
        <p:nvSpPr>
          <p:cNvPr id="6" name="Content Placeholder 5"/>
          <p:cNvSpPr>
            <a:spLocks noGrp="1"/>
          </p:cNvSpPr>
          <p:nvPr>
            <p:ph idx="1"/>
          </p:nvPr>
        </p:nvSpPr>
        <p:spPr/>
        <p:txBody>
          <a:bodyPr/>
          <a:lstStyle/>
          <a:p>
            <a:r>
              <a:rPr lang="en-IN" dirty="0"/>
              <a:t>Scrum master</a:t>
            </a:r>
          </a:p>
          <a:p>
            <a:pPr lvl="1"/>
            <a:r>
              <a:rPr lang="en-IN" dirty="0"/>
              <a:t>The scrum master leads the meeting and analyses the response of each team member.</a:t>
            </a:r>
          </a:p>
          <a:p>
            <a:pPr lvl="1"/>
            <a:r>
              <a:rPr lang="en-IN" dirty="0"/>
              <a:t>The potential problems are discussed and solved in meeting with the help of scrum master.</a:t>
            </a:r>
          </a:p>
          <a:p>
            <a:r>
              <a:rPr lang="en-IN" dirty="0"/>
              <a:t>Team members</a:t>
            </a:r>
          </a:p>
          <a:p>
            <a:pPr lvl="1"/>
            <a:r>
              <a:rPr lang="en-IN" dirty="0"/>
              <a:t>These are the persons working in a team to develop the software solutions.</a:t>
            </a:r>
          </a:p>
          <a:p>
            <a:pPr lvl="1" algn="l">
              <a:buFont typeface="Wingdings" panose="05000000000000000000" pitchFamily="2" charset="2"/>
              <a:buChar char="§"/>
            </a:pPr>
            <a:r>
              <a:rPr lang="en-IN" dirty="0">
                <a:solidFill>
                  <a:schemeClr val="tx1"/>
                </a:solidFill>
              </a:rPr>
              <a:t>Product Owner</a:t>
            </a:r>
          </a:p>
          <a:p>
            <a:pPr lvl="1" algn="l"/>
            <a:r>
              <a:rPr lang="en-US" b="0" i="0" dirty="0">
                <a:solidFill>
                  <a:srgbClr val="415970"/>
                </a:solidFill>
                <a:effectLst/>
                <a:latin typeface="Raleway"/>
              </a:rPr>
              <a:t>Scrum Product Owner is responsible for maximizing the value of the product resulting from the work of the Development Team. </a:t>
            </a:r>
            <a:endParaRPr lang="en-IN" dirty="0">
              <a:solidFill>
                <a:schemeClr val="tx1"/>
              </a:solidFill>
            </a:endParaRPr>
          </a:p>
          <a:p>
            <a:pPr marL="457200" lvl="1" indent="0">
              <a:buNone/>
            </a:pPr>
            <a:endParaRPr lang="en-IN" dirty="0"/>
          </a:p>
        </p:txBody>
      </p:sp>
      <p:sp>
        <p:nvSpPr>
          <p:cNvPr id="3" name="Slide Number Placeholder 2"/>
          <p:cNvSpPr>
            <a:spLocks noGrp="1"/>
          </p:cNvSpPr>
          <p:nvPr>
            <p:ph type="sldNum" sz="quarter" idx="12"/>
          </p:nvPr>
        </p:nvSpPr>
        <p:spPr/>
        <p:txBody>
          <a:bodyPr/>
          <a:lstStyle/>
          <a:p>
            <a:fld id="{5EA8BEFB-AE5B-48F9-BBAD-B489CDE48C80}" type="slidenum">
              <a:rPr lang="en-US" smtClean="0"/>
              <a:pPr/>
              <a:t>28</a:t>
            </a:fld>
            <a:endParaRPr lang="en-US"/>
          </a:p>
        </p:txBody>
      </p:sp>
    </p:spTree>
    <p:extLst>
      <p:ext uri="{BB962C8B-B14F-4D97-AF65-F5344CB8AC3E}">
        <p14:creationId xmlns:p14="http://schemas.microsoft.com/office/powerpoint/2010/main" val="27843945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Roles (Scrum)</a:t>
            </a:r>
            <a:endParaRPr lang="en-IN" dirty="0"/>
          </a:p>
        </p:txBody>
      </p:sp>
      <p:sp>
        <p:nvSpPr>
          <p:cNvPr id="6" name="Content Placeholder 5"/>
          <p:cNvSpPr>
            <a:spLocks noGrp="1"/>
          </p:cNvSpPr>
          <p:nvPr>
            <p:ph idx="1"/>
          </p:nvPr>
        </p:nvSpPr>
        <p:spPr/>
        <p:txBody>
          <a:bodyPr/>
          <a:lstStyle/>
          <a:p>
            <a:r>
              <a:rPr lang="en-IN" dirty="0"/>
              <a:t>Product Owner</a:t>
            </a:r>
          </a:p>
          <a:p>
            <a:pPr lvl="1"/>
            <a:r>
              <a:rPr lang="en-US" sz="2000" b="0" i="0" dirty="0">
                <a:solidFill>
                  <a:schemeClr val="tx1"/>
                </a:solidFill>
                <a:effectLst/>
                <a:latin typeface="Raleway"/>
              </a:rPr>
              <a:t>Scrum Product Owner is responsible for maximizing the value of the product resulting from the work of the Development Team. </a:t>
            </a:r>
          </a:p>
          <a:p>
            <a:pPr marL="457200" lvl="1" indent="0">
              <a:buNone/>
            </a:pPr>
            <a:endParaRPr lang="en-US" sz="2000" b="0" i="0" dirty="0">
              <a:solidFill>
                <a:schemeClr val="tx1"/>
              </a:solidFill>
              <a:effectLst/>
              <a:latin typeface="Raleway"/>
            </a:endParaRPr>
          </a:p>
          <a:p>
            <a:pPr lvl="1"/>
            <a:r>
              <a:rPr lang="en-US" sz="2000" b="0" i="0" dirty="0">
                <a:solidFill>
                  <a:schemeClr val="tx1"/>
                </a:solidFill>
                <a:effectLst/>
                <a:latin typeface="Raleway"/>
              </a:rPr>
              <a:t>The Product Owner is the sole person responsible for managing the Product Backlog. </a:t>
            </a:r>
            <a:endParaRPr lang="en-IN" dirty="0"/>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8BEFB-AE5B-48F9-BBAD-B489CDE48C80}" type="slidenum">
              <a:rPr kumimoji="0" lang="en-US" sz="14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4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1078852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t>Roles (Scrum)</a:t>
            </a:r>
            <a:endParaRPr lang="en-IN" dirty="0"/>
          </a:p>
        </p:txBody>
      </p:sp>
      <p:sp>
        <p:nvSpPr>
          <p:cNvPr id="6" name="Content Placeholder 5"/>
          <p:cNvSpPr>
            <a:spLocks noGrp="1"/>
          </p:cNvSpPr>
          <p:nvPr>
            <p:ph idx="1"/>
          </p:nvPr>
        </p:nvSpPr>
        <p:spPr/>
        <p:txBody>
          <a:bodyPr/>
          <a:lstStyle/>
          <a:p>
            <a:r>
              <a:rPr lang="en-IN" dirty="0"/>
              <a:t>Product Owner</a:t>
            </a:r>
          </a:p>
          <a:p>
            <a:pPr algn="l">
              <a:buFont typeface="Arial" panose="020B0604020202020204" pitchFamily="34" charset="0"/>
              <a:buChar char="•"/>
            </a:pPr>
            <a:r>
              <a:rPr lang="en-US" b="0" i="0" dirty="0">
                <a:solidFill>
                  <a:srgbClr val="415970"/>
                </a:solidFill>
                <a:effectLst/>
                <a:latin typeface="Raleway"/>
              </a:rPr>
              <a:t>Clearly expressing Product Backlog items.</a:t>
            </a:r>
          </a:p>
          <a:p>
            <a:pPr algn="l">
              <a:buFont typeface="Arial" panose="020B0604020202020204" pitchFamily="34" charset="0"/>
              <a:buChar char="•"/>
            </a:pPr>
            <a:r>
              <a:rPr lang="en-US" b="0" i="0" dirty="0">
                <a:solidFill>
                  <a:srgbClr val="415970"/>
                </a:solidFill>
                <a:effectLst/>
                <a:latin typeface="Raleway"/>
              </a:rPr>
              <a:t>Ordering the items in the Product Backlog to best achieve goals and missions.</a:t>
            </a:r>
          </a:p>
          <a:p>
            <a:pPr algn="l">
              <a:buFont typeface="Arial" panose="020B0604020202020204" pitchFamily="34" charset="0"/>
              <a:buChar char="•"/>
            </a:pPr>
            <a:r>
              <a:rPr lang="en-US" b="0" i="0" dirty="0">
                <a:solidFill>
                  <a:srgbClr val="415970"/>
                </a:solidFill>
                <a:effectLst/>
                <a:latin typeface="Raleway"/>
              </a:rPr>
              <a:t>Optimizing the value of the work the Development Team performs.</a:t>
            </a:r>
          </a:p>
          <a:p>
            <a:pPr algn="l">
              <a:buFont typeface="Arial" panose="020B0604020202020204" pitchFamily="34" charset="0"/>
              <a:buChar char="•"/>
            </a:pPr>
            <a:r>
              <a:rPr lang="en-US" b="0" i="0" dirty="0">
                <a:solidFill>
                  <a:srgbClr val="415970"/>
                </a:solidFill>
                <a:effectLst/>
                <a:latin typeface="Raleway"/>
              </a:rPr>
              <a:t>Ensuring that the Product Backlog is visible, transparent, and clear to all, and shows what the Scrum Team will work on next.</a:t>
            </a:r>
          </a:p>
          <a:p>
            <a:pPr algn="l">
              <a:buFont typeface="Arial" panose="020B0604020202020204" pitchFamily="34" charset="0"/>
              <a:buChar char="•"/>
            </a:pPr>
            <a:r>
              <a:rPr lang="en-US" b="0" i="0" dirty="0">
                <a:solidFill>
                  <a:srgbClr val="415970"/>
                </a:solidFill>
                <a:effectLst/>
                <a:latin typeface="Raleway"/>
              </a:rPr>
              <a:t>Ensuring the Development Team understands items in the Product Backlog to the level needed.</a:t>
            </a:r>
          </a:p>
          <a:p>
            <a:endParaRPr lang="en-IN" dirty="0"/>
          </a:p>
          <a:p>
            <a:endParaRPr lang="en-IN" dirty="0"/>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8BEFB-AE5B-48F9-BBAD-B489CDE48C80}" type="slidenum">
              <a:rPr kumimoji="0" lang="en-US" sz="14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4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6589222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4. Scrum</a:t>
            </a:r>
          </a:p>
        </p:txBody>
      </p:sp>
      <p:sp>
        <p:nvSpPr>
          <p:cNvPr id="3" name="Slide Number Placeholder 2"/>
          <p:cNvSpPr>
            <a:spLocks noGrp="1"/>
          </p:cNvSpPr>
          <p:nvPr>
            <p:ph type="sldNum" sz="quarter" idx="12"/>
          </p:nvPr>
        </p:nvSpPr>
        <p:spPr/>
        <p:txBody>
          <a:bodyPr/>
          <a:lstStyle/>
          <a:p>
            <a:fld id="{5EA8BEFB-AE5B-48F9-BBAD-B489CDE48C80}" type="slidenum">
              <a:rPr lang="en-US" smtClean="0"/>
              <a:pPr/>
              <a:t>31</a:t>
            </a:fld>
            <a:endParaRPr lang="en-US"/>
          </a:p>
        </p:txBody>
      </p:sp>
      <p:sp>
        <p:nvSpPr>
          <p:cNvPr id="4" name="Content Placeholder 3"/>
          <p:cNvSpPr>
            <a:spLocks noGrp="1"/>
          </p:cNvSpPr>
          <p:nvPr>
            <p:ph idx="1"/>
          </p:nvPr>
        </p:nvSpPr>
        <p:spPr/>
        <p:txBody>
          <a:bodyPr/>
          <a:lstStyle/>
          <a:p>
            <a:endParaRPr lang="en-IN"/>
          </a:p>
        </p:txBody>
      </p:sp>
      <p:pic>
        <p:nvPicPr>
          <p:cNvPr id="1026" name="Picture 2" descr="Image result for scrum workflow activities"/>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25000"/>
                    </a14:imgEffect>
                    <a14:imgEffect>
                      <a14:colorTemperature colorTemp="5900"/>
                    </a14:imgEffect>
                    <a14:imgEffect>
                      <a14:saturation sat="66000"/>
                    </a14:imgEffect>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178788" y="914400"/>
            <a:ext cx="8785516" cy="50400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78788" y="6107668"/>
            <a:ext cx="8785516" cy="369332"/>
          </a:xfrm>
          <a:prstGeom prst="rect">
            <a:avLst/>
          </a:prstGeom>
          <a:noFill/>
        </p:spPr>
        <p:txBody>
          <a:bodyPr wrap="square" rtlCol="0">
            <a:spAutoFit/>
          </a:bodyPr>
          <a:lstStyle/>
          <a:p>
            <a:pPr algn="ctr"/>
            <a:r>
              <a:rPr lang="en-IN" dirty="0">
                <a:solidFill>
                  <a:schemeClr val="bg1">
                    <a:lumMod val="50000"/>
                  </a:schemeClr>
                </a:solidFill>
              </a:rPr>
              <a:t>© http://www.conceptdraw.com/examples/scrum-guide</a:t>
            </a:r>
          </a:p>
        </p:txBody>
      </p:sp>
    </p:spTree>
    <p:extLst>
      <p:ext uri="{BB962C8B-B14F-4D97-AF65-F5344CB8AC3E}">
        <p14:creationId xmlns:p14="http://schemas.microsoft.com/office/powerpoint/2010/main" val="26748768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5. Feature Driven Development (FDD)</a:t>
            </a:r>
            <a:endParaRPr lang="en-IN" dirty="0"/>
          </a:p>
        </p:txBody>
      </p:sp>
      <p:sp>
        <p:nvSpPr>
          <p:cNvPr id="3" name="Slide Number Placeholder 2"/>
          <p:cNvSpPr>
            <a:spLocks noGrp="1"/>
          </p:cNvSpPr>
          <p:nvPr>
            <p:ph type="sldNum" sz="quarter" idx="12"/>
          </p:nvPr>
        </p:nvSpPr>
        <p:spPr/>
        <p:txBody>
          <a:bodyPr/>
          <a:lstStyle/>
          <a:p>
            <a:fld id="{5EA8BEFB-AE5B-48F9-BBAD-B489CDE48C80}" type="slidenum">
              <a:rPr lang="en-US" smtClean="0"/>
              <a:pPr/>
              <a:t>32</a:t>
            </a:fld>
            <a:endParaRPr lang="en-US"/>
          </a:p>
        </p:txBody>
      </p:sp>
      <p:pic>
        <p:nvPicPr>
          <p:cNvPr id="1026"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152400" y="1600200"/>
            <a:ext cx="8849503" cy="3700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p:nvPr/>
        </p:nvSpPr>
        <p:spPr>
          <a:xfrm>
            <a:off x="3476362" y="6049271"/>
            <a:ext cx="2151486" cy="369332"/>
          </a:xfrm>
          <a:prstGeom prst="rect">
            <a:avLst/>
          </a:prstGeom>
          <a:noFill/>
        </p:spPr>
        <p:txBody>
          <a:bodyPr wrap="none" rtlCol="0">
            <a:spAutoFit/>
          </a:bodyPr>
          <a:lstStyle/>
          <a:p>
            <a:r>
              <a:rPr lang="en-IN" dirty="0">
                <a:solidFill>
                  <a:schemeClr val="tx1">
                    <a:lumMod val="65000"/>
                    <a:lumOff val="35000"/>
                  </a:schemeClr>
                </a:solidFill>
              </a:rPr>
              <a:t>© Roger S. Pressman</a:t>
            </a:r>
          </a:p>
        </p:txBody>
      </p:sp>
    </p:spTree>
    <p:extLst>
      <p:ext uri="{BB962C8B-B14F-4D97-AF65-F5344CB8AC3E}">
        <p14:creationId xmlns:p14="http://schemas.microsoft.com/office/powerpoint/2010/main" val="29777565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Feature Driven Development (FDD)</a:t>
            </a:r>
            <a:endParaRPr lang="en-IN" dirty="0"/>
          </a:p>
        </p:txBody>
      </p:sp>
      <p:sp>
        <p:nvSpPr>
          <p:cNvPr id="33" name="Content Placeholder 2"/>
          <p:cNvSpPr>
            <a:spLocks noGrp="1"/>
          </p:cNvSpPr>
          <p:nvPr>
            <p:ph idx="1"/>
          </p:nvPr>
        </p:nvSpPr>
        <p:spPr/>
        <p:txBody>
          <a:bodyPr/>
          <a:lstStyle/>
          <a:p>
            <a:pPr lvl="0"/>
            <a:r>
              <a:rPr lang="en-IN" dirty="0"/>
              <a:t>Originally Peter Coad suggested this approach for object oriented software engineering.</a:t>
            </a:r>
          </a:p>
          <a:p>
            <a:pPr lvl="0"/>
            <a:r>
              <a:rPr lang="en-IN" dirty="0"/>
              <a:t>Stephen Palmer and John </a:t>
            </a:r>
            <a:r>
              <a:rPr lang="en-IN" dirty="0" err="1"/>
              <a:t>Flesing</a:t>
            </a:r>
            <a:r>
              <a:rPr lang="en-IN" dirty="0"/>
              <a:t> has extended and enhanced Coad’s work.</a:t>
            </a:r>
          </a:p>
          <a:p>
            <a:pPr lvl="0"/>
            <a:r>
              <a:rPr lang="en-IN" dirty="0"/>
              <a:t>In FDD, the </a:t>
            </a:r>
            <a:r>
              <a:rPr lang="en-IN" dirty="0">
                <a:solidFill>
                  <a:srgbClr val="FF0000"/>
                </a:solidFill>
              </a:rPr>
              <a:t>feature means client valued function</a:t>
            </a:r>
            <a:r>
              <a:rPr lang="en-IN" dirty="0"/>
              <a:t>.</a:t>
            </a:r>
          </a:p>
          <a:p>
            <a:pPr lvl="0"/>
            <a:r>
              <a:rPr lang="en-IN" dirty="0"/>
              <a:t>Various phases in the FDD life cycle</a:t>
            </a:r>
          </a:p>
          <a:p>
            <a:pPr marL="914400" lvl="1" indent="-457200">
              <a:buFont typeface="+mj-lt"/>
              <a:buAutoNum type="arabicPeriod"/>
            </a:pPr>
            <a:r>
              <a:rPr lang="en-IN" dirty="0"/>
              <a:t>Develop overall model</a:t>
            </a:r>
          </a:p>
          <a:p>
            <a:pPr marL="1314450" lvl="2" indent="-457200"/>
            <a:r>
              <a:rPr lang="en-IN" dirty="0"/>
              <a:t>The high-level walkthrough of scope and detailed domain walkthrough are conducted to create overall models.</a:t>
            </a:r>
          </a:p>
          <a:p>
            <a:pPr marL="914400" lvl="1" indent="-457200">
              <a:buFont typeface="+mj-lt"/>
              <a:buAutoNum type="arabicPeriod"/>
            </a:pPr>
            <a:r>
              <a:rPr lang="en-IN" dirty="0"/>
              <a:t>Build feature list</a:t>
            </a:r>
          </a:p>
          <a:p>
            <a:pPr marL="1314450" lvl="2" indent="-457200"/>
            <a:r>
              <a:rPr lang="en-IN" dirty="0"/>
              <a:t>List of features is created and expressed in the following form</a:t>
            </a:r>
          </a:p>
          <a:p>
            <a:pPr marL="1771650" lvl="3" indent="-457200"/>
            <a:r>
              <a:rPr lang="en-IN" b="1" dirty="0"/>
              <a:t>&lt;action&gt; </a:t>
            </a:r>
            <a:r>
              <a:rPr lang="en-IN" dirty="0"/>
              <a:t>the </a:t>
            </a:r>
            <a:r>
              <a:rPr lang="en-IN" b="1" dirty="0"/>
              <a:t>&lt;result&gt; &lt;by for of to&gt; </a:t>
            </a:r>
            <a:r>
              <a:rPr lang="en-IN" dirty="0"/>
              <a:t>a(n) </a:t>
            </a:r>
            <a:r>
              <a:rPr lang="en-IN" b="1" dirty="0"/>
              <a:t>&lt;object&gt;</a:t>
            </a:r>
          </a:p>
          <a:p>
            <a:pPr marL="1771650" lvl="3" indent="-457200"/>
            <a:r>
              <a:rPr lang="en-IN" b="1" dirty="0"/>
              <a:t>For Ex. “Display product-specifications of the product”</a:t>
            </a:r>
            <a:endParaRPr lang="en-IN" dirty="0"/>
          </a:p>
        </p:txBody>
      </p:sp>
      <p:sp>
        <p:nvSpPr>
          <p:cNvPr id="3" name="Slide Number Placeholder 2"/>
          <p:cNvSpPr>
            <a:spLocks noGrp="1"/>
          </p:cNvSpPr>
          <p:nvPr>
            <p:ph type="sldNum" sz="quarter" idx="12"/>
          </p:nvPr>
        </p:nvSpPr>
        <p:spPr/>
        <p:txBody>
          <a:bodyPr/>
          <a:lstStyle/>
          <a:p>
            <a:fld id="{5EA8BEFB-AE5B-48F9-BBAD-B489CDE48C80}" type="slidenum">
              <a:rPr lang="en-US" smtClean="0"/>
              <a:pPr/>
              <a:t>33</a:t>
            </a:fld>
            <a:endParaRPr lang="en-US" dirty="0"/>
          </a:p>
        </p:txBody>
      </p:sp>
    </p:spTree>
    <p:extLst>
      <p:ext uri="{BB962C8B-B14F-4D97-AF65-F5344CB8AC3E}">
        <p14:creationId xmlns:p14="http://schemas.microsoft.com/office/powerpoint/2010/main" val="23054270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Feature Driven Development (FDD)</a:t>
            </a:r>
            <a:endParaRPr lang="en-IN" dirty="0"/>
          </a:p>
        </p:txBody>
      </p:sp>
      <p:sp>
        <p:nvSpPr>
          <p:cNvPr id="33" name="Content Placeholder 2"/>
          <p:cNvSpPr>
            <a:spLocks noGrp="1"/>
          </p:cNvSpPr>
          <p:nvPr>
            <p:ph idx="1"/>
          </p:nvPr>
        </p:nvSpPr>
        <p:spPr/>
        <p:txBody>
          <a:bodyPr/>
          <a:lstStyle/>
          <a:p>
            <a:pPr marL="914400" lvl="1" indent="-457200">
              <a:buFont typeface="+mj-lt"/>
              <a:buAutoNum type="arabicPeriod" startAt="3"/>
            </a:pPr>
            <a:endParaRPr lang="en-IN" dirty="0"/>
          </a:p>
          <a:p>
            <a:pPr marL="914400" lvl="1" indent="-457200">
              <a:buFont typeface="+mj-lt"/>
              <a:buAutoNum type="arabicPeriod" startAt="3"/>
            </a:pPr>
            <a:r>
              <a:rPr lang="en-IN" dirty="0"/>
              <a:t>Plan by feature</a:t>
            </a:r>
          </a:p>
          <a:p>
            <a:pPr marL="1314450" lvl="2" indent="-457200"/>
            <a:r>
              <a:rPr lang="en-IN" dirty="0"/>
              <a:t>After completing the feature list the development plan is created</a:t>
            </a:r>
          </a:p>
          <a:p>
            <a:pPr marL="914400" lvl="1" indent="-457200">
              <a:buFont typeface="+mj-lt"/>
              <a:buAutoNum type="arabicPeriod" startAt="3"/>
            </a:pPr>
            <a:r>
              <a:rPr lang="en-IN" dirty="0"/>
              <a:t>Design by feature</a:t>
            </a:r>
          </a:p>
          <a:p>
            <a:pPr marL="1314450" lvl="2" indent="-457200"/>
            <a:r>
              <a:rPr lang="en-IN" dirty="0"/>
              <a:t>For each feature the sequence diagram is created</a:t>
            </a:r>
          </a:p>
          <a:p>
            <a:pPr marL="914400" lvl="1" indent="-457200">
              <a:buFont typeface="+mj-lt"/>
              <a:buAutoNum type="arabicPeriod" startAt="3"/>
            </a:pPr>
            <a:r>
              <a:rPr lang="en-IN" dirty="0"/>
              <a:t>Build by feature</a:t>
            </a:r>
          </a:p>
          <a:p>
            <a:pPr marL="1314450" lvl="2" indent="-457200"/>
            <a:r>
              <a:rPr lang="en-IN" dirty="0"/>
              <a:t>Finally the class owner develop the actual code for their classes</a:t>
            </a:r>
          </a:p>
        </p:txBody>
      </p:sp>
      <p:sp>
        <p:nvSpPr>
          <p:cNvPr id="3" name="Slide Number Placeholder 2"/>
          <p:cNvSpPr>
            <a:spLocks noGrp="1"/>
          </p:cNvSpPr>
          <p:nvPr>
            <p:ph type="sldNum" sz="quarter" idx="12"/>
          </p:nvPr>
        </p:nvSpPr>
        <p:spPr/>
        <p:txBody>
          <a:bodyPr/>
          <a:lstStyle/>
          <a:p>
            <a:fld id="{5EA8BEFB-AE5B-48F9-BBAD-B489CDE48C80}" type="slidenum">
              <a:rPr lang="en-US" smtClean="0"/>
              <a:pPr/>
              <a:t>34</a:t>
            </a:fld>
            <a:endParaRPr lang="en-US"/>
          </a:p>
        </p:txBody>
      </p:sp>
    </p:spTree>
    <p:extLst>
      <p:ext uri="{BB962C8B-B14F-4D97-AF65-F5344CB8AC3E}">
        <p14:creationId xmlns:p14="http://schemas.microsoft.com/office/powerpoint/2010/main" val="40643286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52400"/>
            <a:ext cx="8648700" cy="1143000"/>
          </a:xfrm>
        </p:spPr>
        <p:txBody>
          <a:bodyPr/>
          <a:lstStyle/>
          <a:p>
            <a:r>
              <a:rPr lang="en-IN" dirty="0">
                <a:latin typeface="Times New Roman" panose="02020603050405020304" pitchFamily="18" charset="0"/>
                <a:cs typeface="Times New Roman" panose="02020603050405020304" pitchFamily="18" charset="0"/>
              </a:rPr>
              <a:t>Crystal</a:t>
            </a:r>
          </a:p>
        </p:txBody>
      </p:sp>
      <p:sp>
        <p:nvSpPr>
          <p:cNvPr id="33" name="Content Placeholder 2"/>
          <p:cNvSpPr>
            <a:spLocks noGrp="1"/>
          </p:cNvSpPr>
          <p:nvPr>
            <p:ph idx="1"/>
          </p:nvPr>
        </p:nvSpPr>
        <p:spPr>
          <a:xfrm>
            <a:off x="190500" y="1219200"/>
            <a:ext cx="8763000" cy="5154304"/>
          </a:xfrm>
        </p:spPr>
        <p:txBody>
          <a:bodyPr/>
          <a:lstStyle/>
          <a:p>
            <a:pPr algn="l"/>
            <a:endParaRPr lang="en-US" b="0" i="0" dirty="0">
              <a:effectLst/>
              <a:latin typeface="+mn-lt"/>
            </a:endParaRPr>
          </a:p>
          <a:p>
            <a:pPr algn="l"/>
            <a:r>
              <a:rPr lang="en-US" b="0" i="0" dirty="0">
                <a:effectLst/>
                <a:latin typeface="+mn-lt"/>
              </a:rPr>
              <a:t>Crystal is an </a:t>
            </a:r>
            <a:r>
              <a:rPr lang="en-US" dirty="0">
                <a:latin typeface="+mn-lt"/>
              </a:rPr>
              <a:t>agile framework</a:t>
            </a:r>
            <a:r>
              <a:rPr lang="en-US" b="0" i="0" dirty="0">
                <a:effectLst/>
                <a:latin typeface="+mn-lt"/>
              </a:rPr>
              <a:t> focusing on individuals and their interactions, as opposed to processes and tools. In other words, this framework is a direct outgrowth of one of the core values articulated in the </a:t>
            </a:r>
            <a:r>
              <a:rPr lang="en-US" dirty="0">
                <a:latin typeface="+mn-lt"/>
              </a:rPr>
              <a:t>Agile Manifesto</a:t>
            </a:r>
            <a:r>
              <a:rPr lang="en-US" b="0" i="0" dirty="0">
                <a:effectLst/>
                <a:latin typeface="+mn-lt"/>
              </a:rPr>
              <a:t>.</a:t>
            </a:r>
          </a:p>
          <a:p>
            <a:pPr algn="l"/>
            <a:r>
              <a:rPr lang="en-US" b="0" i="0" dirty="0">
                <a:effectLst/>
                <a:latin typeface="+mn-lt"/>
              </a:rPr>
              <a:t>The Crystal agile framework is built on two core beliefs:</a:t>
            </a:r>
          </a:p>
          <a:p>
            <a:pPr algn="l">
              <a:buFont typeface="Arial" panose="020B0604020202020204" pitchFamily="34" charset="0"/>
              <a:buChar char="•"/>
            </a:pPr>
            <a:r>
              <a:rPr lang="en-US" b="0" i="0" dirty="0">
                <a:effectLst/>
                <a:latin typeface="+mn-lt"/>
              </a:rPr>
              <a:t>Teams can find ways on their own to improve and optimize their workflows</a:t>
            </a:r>
          </a:p>
          <a:p>
            <a:pPr algn="l">
              <a:buFont typeface="Arial" panose="020B0604020202020204" pitchFamily="34" charset="0"/>
              <a:buChar char="•"/>
            </a:pPr>
            <a:r>
              <a:rPr lang="en-US" b="0" i="0" dirty="0">
                <a:effectLst/>
                <a:latin typeface="+mn-lt"/>
              </a:rPr>
              <a:t>Every project is unique and always changing, which is why that project’s team is best suited to determine how it will tackle the work</a:t>
            </a:r>
          </a:p>
          <a:p>
            <a:endParaRPr lang="en-IN" dirty="0">
              <a:latin typeface="Times New Roman" panose="02020603050405020304" pitchFamily="18" charset="0"/>
            </a:endParaRP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8BEFB-AE5B-48F9-BBAD-B489CDE48C80}" type="slidenum">
              <a:rPr kumimoji="0" lang="en-US" sz="14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4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4535472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6. Crystal</a:t>
            </a:r>
          </a:p>
        </p:txBody>
      </p:sp>
      <p:sp>
        <p:nvSpPr>
          <p:cNvPr id="33" name="Content Placeholder 2"/>
          <p:cNvSpPr>
            <a:spLocks noGrp="1"/>
          </p:cNvSpPr>
          <p:nvPr>
            <p:ph idx="1"/>
          </p:nvPr>
        </p:nvSpPr>
        <p:spPr/>
        <p:txBody>
          <a:bodyPr/>
          <a:lstStyle/>
          <a:p>
            <a:pPr lvl="0"/>
            <a:r>
              <a:rPr lang="en-IN" dirty="0"/>
              <a:t>Alistair and </a:t>
            </a:r>
            <a:r>
              <a:rPr lang="en-IN" dirty="0" err="1"/>
              <a:t>Highsmith</a:t>
            </a:r>
            <a:r>
              <a:rPr lang="en-IN" dirty="0"/>
              <a:t> suggested the crystal family of agile methods.</a:t>
            </a:r>
          </a:p>
          <a:p>
            <a:pPr lvl="0"/>
            <a:r>
              <a:rPr lang="en-IN" dirty="0"/>
              <a:t>This method also contains roles, process patterns, work products and practice that are unique to each.</a:t>
            </a:r>
          </a:p>
          <a:p>
            <a:pPr lvl="0"/>
            <a:r>
              <a:rPr lang="en-IN" dirty="0"/>
              <a:t>Thus the crystal family is actually a set of agile processes that are useful for different types of projects.</a:t>
            </a:r>
          </a:p>
          <a:p>
            <a:pPr lvl="0"/>
            <a:r>
              <a:rPr lang="en-IN" dirty="0"/>
              <a:t>The agile team has to </a:t>
            </a:r>
            <a:r>
              <a:rPr lang="en-IN" dirty="0">
                <a:solidFill>
                  <a:srgbClr val="FF0000"/>
                </a:solidFill>
              </a:rPr>
              <a:t>select the members of the crystal family that is most appropriate </a:t>
            </a:r>
            <a:r>
              <a:rPr lang="en-IN" dirty="0"/>
              <a:t>for their on going project and environment.</a:t>
            </a:r>
          </a:p>
        </p:txBody>
      </p:sp>
      <p:sp>
        <p:nvSpPr>
          <p:cNvPr id="3" name="Slide Number Placeholder 2"/>
          <p:cNvSpPr>
            <a:spLocks noGrp="1"/>
          </p:cNvSpPr>
          <p:nvPr>
            <p:ph type="sldNum" sz="quarter" idx="12"/>
          </p:nvPr>
        </p:nvSpPr>
        <p:spPr/>
        <p:txBody>
          <a:bodyPr/>
          <a:lstStyle/>
          <a:p>
            <a:fld id="{5EA8BEFB-AE5B-48F9-BBAD-B489CDE48C80}" type="slidenum">
              <a:rPr lang="en-US" smtClean="0"/>
              <a:pPr/>
              <a:t>36</a:t>
            </a:fld>
            <a:endParaRPr lang="en-US"/>
          </a:p>
        </p:txBody>
      </p:sp>
    </p:spTree>
    <p:extLst>
      <p:ext uri="{BB962C8B-B14F-4D97-AF65-F5344CB8AC3E}">
        <p14:creationId xmlns:p14="http://schemas.microsoft.com/office/powerpoint/2010/main" val="11648423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6. Crystal</a:t>
            </a:r>
          </a:p>
        </p:txBody>
      </p:sp>
      <p:sp>
        <p:nvSpPr>
          <p:cNvPr id="33" name="Content Placeholder 2"/>
          <p:cNvSpPr>
            <a:spLocks noGrp="1"/>
          </p:cNvSpPr>
          <p:nvPr>
            <p:ph idx="1"/>
          </p:nvPr>
        </p:nvSpPr>
        <p:spPr>
          <a:xfrm>
            <a:off x="190500" y="734704"/>
            <a:ext cx="8763000" cy="5894696"/>
          </a:xfrm>
        </p:spPr>
        <p:txBody>
          <a:bodyPr/>
          <a:lstStyle/>
          <a:p>
            <a:pPr algn="l"/>
            <a:r>
              <a:rPr lang="en-US" sz="2000" b="0" i="0" dirty="0">
                <a:solidFill>
                  <a:srgbClr val="000000"/>
                </a:solidFill>
                <a:effectLst/>
                <a:latin typeface="+mn-lt"/>
              </a:rPr>
              <a:t>Which approach will be most suitable for your projects depends on three dimensions:</a:t>
            </a:r>
          </a:p>
          <a:p>
            <a:pPr algn="l">
              <a:buFont typeface="Arial" panose="020B0604020202020204" pitchFamily="34" charset="0"/>
              <a:buChar char="•"/>
            </a:pPr>
            <a:r>
              <a:rPr lang="en-US" sz="2000" b="0" i="0" dirty="0">
                <a:solidFill>
                  <a:srgbClr val="000000"/>
                </a:solidFill>
                <a:effectLst/>
                <a:latin typeface="+mn-lt"/>
              </a:rPr>
              <a:t>Team size</a:t>
            </a:r>
          </a:p>
          <a:p>
            <a:pPr algn="l">
              <a:buFont typeface="Arial" panose="020B0604020202020204" pitchFamily="34" charset="0"/>
              <a:buChar char="•"/>
            </a:pPr>
            <a:r>
              <a:rPr lang="en-US" sz="2000" b="0" i="0" dirty="0">
                <a:solidFill>
                  <a:srgbClr val="000000"/>
                </a:solidFill>
                <a:effectLst/>
                <a:latin typeface="+mn-lt"/>
              </a:rPr>
              <a:t>Criticality</a:t>
            </a:r>
            <a:endParaRPr lang="en-US" sz="2000" dirty="0">
              <a:solidFill>
                <a:srgbClr val="000000"/>
              </a:solidFill>
              <a:latin typeface="+mn-lt"/>
            </a:endParaRPr>
          </a:p>
          <a:p>
            <a:pPr algn="l">
              <a:buFont typeface="Arial" panose="020B0604020202020204" pitchFamily="34" charset="0"/>
              <a:buChar char="•"/>
            </a:pPr>
            <a:r>
              <a:rPr lang="en-US" sz="2000" b="0" i="0" dirty="0">
                <a:solidFill>
                  <a:srgbClr val="000000"/>
                </a:solidFill>
                <a:effectLst/>
                <a:latin typeface="+mn-lt"/>
              </a:rPr>
              <a:t>What the priority of the project is</a:t>
            </a:r>
            <a:br>
              <a:rPr lang="en-US" sz="2000" b="0" i="0" dirty="0">
                <a:solidFill>
                  <a:srgbClr val="000000"/>
                </a:solidFill>
                <a:effectLst/>
                <a:latin typeface="+mn-lt"/>
              </a:rPr>
            </a:br>
            <a:endParaRPr lang="en-US" sz="2000" b="0" i="0" dirty="0">
              <a:solidFill>
                <a:srgbClr val="000000"/>
              </a:solidFill>
              <a:effectLst/>
              <a:latin typeface="+mn-lt"/>
            </a:endParaRPr>
          </a:p>
          <a:p>
            <a:pPr algn="l"/>
            <a:r>
              <a:rPr lang="en-US" sz="2000" b="0" i="0" dirty="0">
                <a:solidFill>
                  <a:srgbClr val="000000"/>
                </a:solidFill>
                <a:effectLst/>
                <a:latin typeface="+mn-lt"/>
              </a:rPr>
              <a:t>Generally, they are characterized by colors, according to the number of people involved in the project:</a:t>
            </a:r>
          </a:p>
          <a:p>
            <a:pPr algn="l">
              <a:buFont typeface="Arial" panose="020B0604020202020204" pitchFamily="34" charset="0"/>
              <a:buChar char="•"/>
            </a:pPr>
            <a:r>
              <a:rPr lang="en-US" sz="2000" b="1" i="0" dirty="0">
                <a:solidFill>
                  <a:srgbClr val="000000"/>
                </a:solidFill>
                <a:effectLst/>
                <a:latin typeface="+mn-lt"/>
              </a:rPr>
              <a:t>Clear</a:t>
            </a:r>
            <a:r>
              <a:rPr lang="en-US" sz="2000" b="0" i="0" dirty="0">
                <a:solidFill>
                  <a:srgbClr val="000000"/>
                </a:solidFill>
                <a:effectLst/>
                <a:latin typeface="+mn-lt"/>
              </a:rPr>
              <a:t> - for teams of 8 or fewer people</a:t>
            </a:r>
            <a:br>
              <a:rPr lang="en-US" sz="2000" b="0" i="0" dirty="0">
                <a:solidFill>
                  <a:srgbClr val="000000"/>
                </a:solidFill>
                <a:effectLst/>
                <a:latin typeface="+mn-lt"/>
              </a:rPr>
            </a:br>
            <a:endParaRPr lang="en-US" sz="2000" b="0" i="0" dirty="0">
              <a:solidFill>
                <a:srgbClr val="000000"/>
              </a:solidFill>
              <a:effectLst/>
              <a:latin typeface="+mn-lt"/>
            </a:endParaRPr>
          </a:p>
          <a:p>
            <a:pPr algn="l">
              <a:buFont typeface="Arial" panose="020B0604020202020204" pitchFamily="34" charset="0"/>
              <a:buChar char="•"/>
            </a:pPr>
            <a:r>
              <a:rPr lang="en-US" sz="2000" b="1" i="0" dirty="0">
                <a:solidFill>
                  <a:srgbClr val="000000"/>
                </a:solidFill>
                <a:effectLst/>
                <a:latin typeface="+mn-lt"/>
              </a:rPr>
              <a:t>Yellow</a:t>
            </a:r>
            <a:r>
              <a:rPr lang="en-US" sz="2000" b="0" i="0" dirty="0">
                <a:solidFill>
                  <a:srgbClr val="000000"/>
                </a:solidFill>
                <a:effectLst/>
                <a:latin typeface="+mn-lt"/>
              </a:rPr>
              <a:t> - for teams of 10-20 people</a:t>
            </a:r>
            <a:br>
              <a:rPr lang="en-US" sz="2000" b="0" i="0" dirty="0">
                <a:solidFill>
                  <a:srgbClr val="000000"/>
                </a:solidFill>
                <a:effectLst/>
                <a:latin typeface="+mn-lt"/>
              </a:rPr>
            </a:br>
            <a:endParaRPr lang="en-US" sz="2000" b="0" i="0" dirty="0">
              <a:solidFill>
                <a:srgbClr val="000000"/>
              </a:solidFill>
              <a:effectLst/>
              <a:latin typeface="+mn-lt"/>
            </a:endParaRPr>
          </a:p>
          <a:p>
            <a:pPr algn="l">
              <a:buFont typeface="Arial" panose="020B0604020202020204" pitchFamily="34" charset="0"/>
              <a:buChar char="•"/>
            </a:pPr>
            <a:r>
              <a:rPr lang="en-US" sz="2000" b="1" i="0" dirty="0">
                <a:solidFill>
                  <a:srgbClr val="000000"/>
                </a:solidFill>
                <a:effectLst/>
                <a:latin typeface="+mn-lt"/>
              </a:rPr>
              <a:t>Orange</a:t>
            </a:r>
            <a:r>
              <a:rPr lang="en-US" sz="2000" b="0" i="0" dirty="0">
                <a:solidFill>
                  <a:srgbClr val="000000"/>
                </a:solidFill>
                <a:effectLst/>
                <a:latin typeface="+mn-lt"/>
              </a:rPr>
              <a:t> - for teams of 20-50 people</a:t>
            </a:r>
            <a:br>
              <a:rPr lang="en-US" sz="2000" b="0" i="0" dirty="0">
                <a:solidFill>
                  <a:srgbClr val="000000"/>
                </a:solidFill>
                <a:effectLst/>
                <a:latin typeface="+mn-lt"/>
              </a:rPr>
            </a:br>
            <a:endParaRPr lang="en-US" sz="2000" b="0" i="0" dirty="0">
              <a:solidFill>
                <a:srgbClr val="000000"/>
              </a:solidFill>
              <a:effectLst/>
              <a:latin typeface="+mn-lt"/>
            </a:endParaRPr>
          </a:p>
          <a:p>
            <a:pPr algn="l">
              <a:buFont typeface="Arial" panose="020B0604020202020204" pitchFamily="34" charset="0"/>
              <a:buChar char="•"/>
            </a:pPr>
            <a:r>
              <a:rPr lang="en-US" sz="2000" b="1" i="0" dirty="0">
                <a:solidFill>
                  <a:srgbClr val="000000"/>
                </a:solidFill>
                <a:effectLst/>
                <a:latin typeface="+mn-lt"/>
              </a:rPr>
              <a:t>Red</a:t>
            </a:r>
            <a:r>
              <a:rPr lang="en-US" sz="2000" b="0" i="0" dirty="0">
                <a:solidFill>
                  <a:srgbClr val="000000"/>
                </a:solidFill>
                <a:effectLst/>
                <a:latin typeface="+mn-lt"/>
              </a:rPr>
              <a:t> - for teams of 50-100 people</a:t>
            </a:r>
          </a:p>
          <a:p>
            <a:pPr lvl="0"/>
            <a:endParaRPr lang="en-IN" dirty="0"/>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8BEFB-AE5B-48F9-BBAD-B489CDE48C80}" type="slidenum">
              <a:rPr kumimoji="0" lang="en-US" sz="14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4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2439439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6. Crystal</a:t>
            </a:r>
          </a:p>
        </p:txBody>
      </p:sp>
      <p:pic>
        <p:nvPicPr>
          <p:cNvPr id="5" name="Content Placeholder 4">
            <a:extLst>
              <a:ext uri="{FF2B5EF4-FFF2-40B4-BE49-F238E27FC236}">
                <a16:creationId xmlns:a16="http://schemas.microsoft.com/office/drawing/2014/main" id="{9BA20C80-E4A1-4CBD-801C-1939347AACB8}"/>
              </a:ext>
            </a:extLst>
          </p:cNvPr>
          <p:cNvPicPr>
            <a:picLocks noGrp="1" noChangeAspect="1"/>
          </p:cNvPicPr>
          <p:nvPr>
            <p:ph idx="1"/>
          </p:nvPr>
        </p:nvPicPr>
        <p:blipFill>
          <a:blip r:embed="rId2"/>
          <a:stretch>
            <a:fillRect/>
          </a:stretch>
        </p:blipFill>
        <p:spPr>
          <a:xfrm>
            <a:off x="1219200" y="1524000"/>
            <a:ext cx="6372225" cy="2286000"/>
          </a:xfrm>
        </p:spPr>
      </p:pic>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A8BEFB-AE5B-48F9-BBAD-B489CDE48C80}" type="slidenum">
              <a:rPr kumimoji="0" lang="en-US" sz="14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4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0871111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914399"/>
          </a:xfrm>
        </p:spPr>
        <p:txBody>
          <a:bodyPr/>
          <a:lstStyle/>
          <a:p>
            <a:pPr algn="l"/>
            <a:r>
              <a:rPr lang="en-US" dirty="0">
                <a:latin typeface="+mj-lt"/>
              </a:rPr>
              <a:t>5. Large Scale Scrum(</a:t>
            </a:r>
            <a:r>
              <a:rPr lang="en-US" dirty="0" err="1">
                <a:latin typeface="+mj-lt"/>
              </a:rPr>
              <a:t>LeSS</a:t>
            </a:r>
            <a:r>
              <a:rPr lang="en-US" dirty="0">
                <a:latin typeface="+mj-lt"/>
              </a:rPr>
              <a:t>)</a:t>
            </a:r>
          </a:p>
        </p:txBody>
      </p:sp>
      <p:sp>
        <p:nvSpPr>
          <p:cNvPr id="3" name="Subtitle 2"/>
          <p:cNvSpPr>
            <a:spLocks noGrp="1"/>
          </p:cNvSpPr>
          <p:nvPr>
            <p:ph type="subTitle" idx="1"/>
          </p:nvPr>
        </p:nvSpPr>
        <p:spPr>
          <a:xfrm>
            <a:off x="685800" y="1752600"/>
            <a:ext cx="7772400" cy="4419600"/>
          </a:xfrm>
        </p:spPr>
        <p:txBody>
          <a:bodyPr>
            <a:normAutofit/>
          </a:bodyPr>
          <a:lstStyle/>
          <a:p>
            <a:pPr algn="l"/>
            <a:r>
              <a:rPr lang="en-US" sz="2400" dirty="0">
                <a:latin typeface="+mj-lt"/>
              </a:rPr>
              <a:t> </a:t>
            </a:r>
            <a:r>
              <a:rPr lang="en-US" sz="2400" dirty="0">
                <a:solidFill>
                  <a:schemeClr val="tx1"/>
                </a:solidFill>
                <a:latin typeface="+mj-lt"/>
              </a:rPr>
              <a:t>The </a:t>
            </a:r>
            <a:r>
              <a:rPr lang="en-US" sz="2400" dirty="0" err="1">
                <a:solidFill>
                  <a:schemeClr val="tx1"/>
                </a:solidFill>
                <a:latin typeface="+mj-lt"/>
              </a:rPr>
              <a:t>LeSS</a:t>
            </a:r>
            <a:r>
              <a:rPr lang="en-US" sz="2400" dirty="0">
                <a:solidFill>
                  <a:schemeClr val="tx1"/>
                </a:solidFill>
                <a:latin typeface="+mj-lt"/>
              </a:rPr>
              <a:t> Framework is a way to scale the work of multiple teams doing scrum.</a:t>
            </a:r>
          </a:p>
          <a:p>
            <a:pPr algn="l"/>
            <a:endParaRPr lang="en-US" sz="2400" dirty="0">
              <a:solidFill>
                <a:schemeClr val="tx1"/>
              </a:solidFill>
              <a:latin typeface="+mj-lt"/>
            </a:endParaRPr>
          </a:p>
          <a:p>
            <a:pPr algn="l"/>
            <a:r>
              <a:rPr lang="en-US" sz="2400" dirty="0" err="1">
                <a:solidFill>
                  <a:schemeClr val="tx1"/>
                </a:solidFill>
                <a:latin typeface="+mj-lt"/>
              </a:rPr>
              <a:t>LeSS</a:t>
            </a:r>
            <a:r>
              <a:rPr lang="en-US" sz="2400" dirty="0">
                <a:solidFill>
                  <a:schemeClr val="tx1"/>
                </a:solidFill>
                <a:latin typeface="+mj-lt"/>
              </a:rPr>
              <a:t> shows how to handle Large and complex development.</a:t>
            </a:r>
          </a:p>
          <a:p>
            <a:pPr algn="l"/>
            <a:endParaRPr lang="en-US" sz="2400" dirty="0">
              <a:solidFill>
                <a:schemeClr val="tx1"/>
              </a:solidFill>
              <a:latin typeface="+mj-lt"/>
            </a:endParaRPr>
          </a:p>
          <a:p>
            <a:pPr algn="l"/>
            <a:r>
              <a:rPr lang="en-US" sz="2400" dirty="0" err="1">
                <a:solidFill>
                  <a:schemeClr val="tx1"/>
                </a:solidFill>
                <a:latin typeface="+mj-lt"/>
              </a:rPr>
              <a:t>LeSS</a:t>
            </a:r>
            <a:r>
              <a:rPr lang="en-US" sz="2400" dirty="0">
                <a:solidFill>
                  <a:schemeClr val="tx1"/>
                </a:solidFill>
                <a:latin typeface="+mj-lt"/>
              </a:rPr>
              <a:t> applies to products with 2-8 teams.</a:t>
            </a:r>
          </a:p>
          <a:p>
            <a:pPr algn="l"/>
            <a:endParaRPr lang="en-US" sz="2400" dirty="0">
              <a:latin typeface="+mj-lt"/>
            </a:endParaRPr>
          </a:p>
        </p:txBody>
      </p:sp>
    </p:spTree>
    <p:extLst>
      <p:ext uri="{BB962C8B-B14F-4D97-AF65-F5344CB8AC3E}">
        <p14:creationId xmlns:p14="http://schemas.microsoft.com/office/powerpoint/2010/main" val="11774984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533401"/>
            <a:ext cx="7772400" cy="1143000"/>
          </a:xfrm>
        </p:spPr>
        <p:txBody>
          <a:bodyPr/>
          <a:lstStyle/>
          <a:p>
            <a:pPr algn="l"/>
            <a:r>
              <a:rPr lang="en-US" dirty="0" err="1">
                <a:latin typeface="+mj-lt"/>
              </a:rPr>
              <a:t>LeSS</a:t>
            </a:r>
            <a:r>
              <a:rPr lang="en-US" dirty="0">
                <a:latin typeface="+mj-lt"/>
              </a:rPr>
              <a:t> Principles:-</a:t>
            </a:r>
          </a:p>
        </p:txBody>
      </p:sp>
      <p:sp>
        <p:nvSpPr>
          <p:cNvPr id="3" name="Subtitle 2"/>
          <p:cNvSpPr>
            <a:spLocks noGrp="1"/>
          </p:cNvSpPr>
          <p:nvPr>
            <p:ph type="subTitle" idx="1"/>
          </p:nvPr>
        </p:nvSpPr>
        <p:spPr>
          <a:xfrm>
            <a:off x="685800" y="1981200"/>
            <a:ext cx="7772400" cy="4648200"/>
          </a:xfrm>
        </p:spPr>
        <p:txBody>
          <a:bodyPr>
            <a:normAutofit/>
          </a:bodyPr>
          <a:lstStyle/>
          <a:p>
            <a:pPr marL="457200" indent="-457200" algn="l">
              <a:buFont typeface="Arial" panose="020B0604020202020204" pitchFamily="34" charset="0"/>
              <a:buChar char="•"/>
            </a:pPr>
            <a:r>
              <a:rPr lang="en-US" sz="2400" dirty="0">
                <a:solidFill>
                  <a:schemeClr val="tx1"/>
                </a:solidFill>
                <a:latin typeface="+mj-lt"/>
              </a:rPr>
              <a:t>Transparency</a:t>
            </a:r>
          </a:p>
          <a:p>
            <a:pPr marL="457200" indent="-457200" algn="l">
              <a:buFont typeface="Arial" panose="020B0604020202020204" pitchFamily="34" charset="0"/>
              <a:buChar char="•"/>
            </a:pPr>
            <a:r>
              <a:rPr lang="en-US" sz="2400" dirty="0">
                <a:solidFill>
                  <a:schemeClr val="tx1"/>
                </a:solidFill>
                <a:latin typeface="+mj-lt"/>
              </a:rPr>
              <a:t>More with less</a:t>
            </a:r>
          </a:p>
          <a:p>
            <a:pPr marL="457200" indent="-457200" algn="l">
              <a:buFont typeface="Arial" panose="020B0604020202020204" pitchFamily="34" charset="0"/>
              <a:buChar char="•"/>
            </a:pPr>
            <a:r>
              <a:rPr lang="en-US" sz="2400" dirty="0">
                <a:solidFill>
                  <a:schemeClr val="tx1"/>
                </a:solidFill>
                <a:latin typeface="+mj-lt"/>
              </a:rPr>
              <a:t>Whole-Product focus</a:t>
            </a:r>
          </a:p>
          <a:p>
            <a:pPr marL="457200" indent="-457200" algn="l">
              <a:buFont typeface="Arial" panose="020B0604020202020204" pitchFamily="34" charset="0"/>
              <a:buChar char="•"/>
            </a:pPr>
            <a:r>
              <a:rPr lang="en-US" sz="2400" dirty="0">
                <a:solidFill>
                  <a:schemeClr val="tx1"/>
                </a:solidFill>
                <a:latin typeface="+mj-lt"/>
              </a:rPr>
              <a:t>Customer centric</a:t>
            </a:r>
          </a:p>
          <a:p>
            <a:pPr marL="457200" indent="-457200" algn="l">
              <a:buFont typeface="Arial" panose="020B0604020202020204" pitchFamily="34" charset="0"/>
              <a:buChar char="•"/>
            </a:pPr>
            <a:r>
              <a:rPr lang="en-US" sz="2400" dirty="0">
                <a:solidFill>
                  <a:schemeClr val="tx1"/>
                </a:solidFill>
                <a:latin typeface="+mj-lt"/>
              </a:rPr>
              <a:t>Lean thinking</a:t>
            </a:r>
          </a:p>
          <a:p>
            <a:pPr marL="457200" indent="-457200" algn="l">
              <a:buFont typeface="Arial" panose="020B0604020202020204" pitchFamily="34" charset="0"/>
              <a:buChar char="•"/>
            </a:pPr>
            <a:r>
              <a:rPr lang="en-US" sz="2400" dirty="0">
                <a:solidFill>
                  <a:schemeClr val="tx1"/>
                </a:solidFill>
                <a:latin typeface="+mj-lt"/>
              </a:rPr>
              <a:t>Continuous improvements towards perfection</a:t>
            </a:r>
          </a:p>
          <a:p>
            <a:pPr marL="457200" indent="-457200" algn="l">
              <a:buFont typeface="Arial" panose="020B0604020202020204" pitchFamily="34" charset="0"/>
              <a:buChar char="•"/>
            </a:pPr>
            <a:r>
              <a:rPr lang="en-US" sz="2400" dirty="0">
                <a:solidFill>
                  <a:schemeClr val="tx1"/>
                </a:solidFill>
                <a:latin typeface="+mj-lt"/>
              </a:rPr>
              <a:t>System thinking</a:t>
            </a:r>
          </a:p>
          <a:p>
            <a:pPr marL="457200" indent="-457200" algn="l">
              <a:buFont typeface="Arial" panose="020B0604020202020204" pitchFamily="34" charset="0"/>
              <a:buChar char="•"/>
            </a:pPr>
            <a:r>
              <a:rPr lang="en-US" sz="2400" dirty="0">
                <a:solidFill>
                  <a:schemeClr val="tx1"/>
                </a:solidFill>
                <a:latin typeface="+mj-lt"/>
              </a:rPr>
              <a:t>Empirical process control</a:t>
            </a:r>
          </a:p>
          <a:p>
            <a:pPr marL="457200" indent="-457200" algn="l">
              <a:buFont typeface="Arial" panose="020B0604020202020204" pitchFamily="34" charset="0"/>
              <a:buChar char="•"/>
            </a:pPr>
            <a:r>
              <a:rPr lang="en-US" sz="2400" dirty="0">
                <a:solidFill>
                  <a:schemeClr val="tx1"/>
                </a:solidFill>
                <a:latin typeface="+mj-lt"/>
              </a:rPr>
              <a:t>Queuing theory</a:t>
            </a:r>
          </a:p>
          <a:p>
            <a:pPr algn="l"/>
            <a:endParaRPr lang="en-US" sz="2400" dirty="0">
              <a:solidFill>
                <a:schemeClr val="tx1"/>
              </a:solidFill>
              <a:latin typeface="+mj-lt"/>
            </a:endParaRPr>
          </a:p>
        </p:txBody>
      </p:sp>
    </p:spTree>
    <p:extLst>
      <p:ext uri="{BB962C8B-B14F-4D97-AF65-F5344CB8AC3E}">
        <p14:creationId xmlns:p14="http://schemas.microsoft.com/office/powerpoint/2010/main" val="18588808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1"/>
            <a:ext cx="7772400" cy="838199"/>
          </a:xfrm>
        </p:spPr>
        <p:txBody>
          <a:bodyPr>
            <a:normAutofit/>
          </a:bodyPr>
          <a:lstStyle/>
          <a:p>
            <a:pPr algn="l"/>
            <a:r>
              <a:rPr lang="en-US" dirty="0" err="1">
                <a:latin typeface="+mj-lt"/>
              </a:rPr>
              <a:t>LeSS</a:t>
            </a:r>
            <a:r>
              <a:rPr lang="en-US" dirty="0">
                <a:latin typeface="+mj-lt"/>
              </a:rPr>
              <a:t> Framework</a:t>
            </a:r>
          </a:p>
        </p:txBody>
      </p:sp>
      <p:sp>
        <p:nvSpPr>
          <p:cNvPr id="3" name="Subtitle 2"/>
          <p:cNvSpPr>
            <a:spLocks noGrp="1"/>
          </p:cNvSpPr>
          <p:nvPr>
            <p:ph type="subTitle" idx="1"/>
          </p:nvPr>
        </p:nvSpPr>
        <p:spPr>
          <a:xfrm>
            <a:off x="685800" y="1066800"/>
            <a:ext cx="7772400" cy="5638800"/>
          </a:xfrm>
        </p:spPr>
        <p:txBody>
          <a:bodyPr>
            <a:normAutofit/>
          </a:bodyPr>
          <a:lstStyle/>
          <a:p>
            <a:pPr marL="342900" indent="-342900" algn="l">
              <a:buFont typeface="Arial" panose="020B0604020202020204" pitchFamily="34" charset="0"/>
              <a:buChar char="•"/>
            </a:pPr>
            <a:r>
              <a:rPr lang="en-US" sz="2400" dirty="0">
                <a:solidFill>
                  <a:schemeClr val="tx1"/>
                </a:solidFill>
                <a:latin typeface="+mj-lt"/>
              </a:rPr>
              <a:t>The </a:t>
            </a:r>
            <a:r>
              <a:rPr lang="en-US" sz="2400" dirty="0" err="1">
                <a:solidFill>
                  <a:schemeClr val="tx1"/>
                </a:solidFill>
                <a:latin typeface="+mj-lt"/>
              </a:rPr>
              <a:t>LeSS</a:t>
            </a:r>
            <a:r>
              <a:rPr lang="en-US" sz="2400" dirty="0">
                <a:solidFill>
                  <a:schemeClr val="tx1"/>
                </a:solidFill>
                <a:latin typeface="+mj-lt"/>
              </a:rPr>
              <a:t> framework is for one product owner who owns the product and who manages one product backlog worked. </a:t>
            </a:r>
          </a:p>
          <a:p>
            <a:pPr marL="342900" indent="-342900" algn="l">
              <a:buFont typeface="Arial" panose="020B0604020202020204" pitchFamily="34" charset="0"/>
              <a:buChar char="•"/>
            </a:pPr>
            <a:r>
              <a:rPr lang="en-US" sz="2400" dirty="0">
                <a:solidFill>
                  <a:schemeClr val="tx1"/>
                </a:solidFill>
                <a:latin typeface="+mj-lt"/>
              </a:rPr>
              <a:t>Roles:- One product owner, Area Product owner, 2-8 teams, Scrum master for 1-3 teams.</a:t>
            </a:r>
          </a:p>
          <a:p>
            <a:pPr marL="342900" indent="-342900" algn="l">
              <a:buFont typeface="Arial" panose="020B0604020202020204" pitchFamily="34" charset="0"/>
              <a:buChar char="•"/>
            </a:pPr>
            <a:r>
              <a:rPr lang="en-US" sz="2400" dirty="0">
                <a:solidFill>
                  <a:schemeClr val="tx1"/>
                </a:solidFill>
                <a:latin typeface="+mj-lt"/>
              </a:rPr>
              <a:t>Artifacts:- One potentially shippable product increment, one product backlog and a separate sprint backlog for each team.</a:t>
            </a:r>
          </a:p>
          <a:p>
            <a:pPr marL="342900" indent="-342900" algn="l">
              <a:buFont typeface="Arial" panose="020B0604020202020204" pitchFamily="34" charset="0"/>
              <a:buChar char="•"/>
            </a:pPr>
            <a:r>
              <a:rPr lang="en-US" sz="2400" dirty="0">
                <a:solidFill>
                  <a:schemeClr val="tx1"/>
                </a:solidFill>
                <a:latin typeface="+mj-lt"/>
              </a:rPr>
              <a:t>Events:- One common sprint for the whole product, it includes all teams and ends in one potentially shippable product increment.</a:t>
            </a:r>
          </a:p>
          <a:p>
            <a:pPr marL="342900" indent="-342900" algn="l">
              <a:buFont typeface="Arial" panose="020B0604020202020204" pitchFamily="34" charset="0"/>
              <a:buChar char="•"/>
            </a:pPr>
            <a:r>
              <a:rPr lang="en-US" sz="2400" dirty="0">
                <a:solidFill>
                  <a:schemeClr val="tx1"/>
                </a:solidFill>
                <a:latin typeface="+mj-lt"/>
              </a:rPr>
              <a:t>Rules and guide:- Rules for barely sufficient scaling framework for empirical process control and whole product focus. Guides may help.</a:t>
            </a:r>
          </a:p>
        </p:txBody>
      </p:sp>
    </p:spTree>
    <p:extLst>
      <p:ext uri="{BB962C8B-B14F-4D97-AF65-F5344CB8AC3E}">
        <p14:creationId xmlns:p14="http://schemas.microsoft.com/office/powerpoint/2010/main" val="18568473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1"/>
            <a:ext cx="7772400" cy="304799"/>
          </a:xfrm>
        </p:spPr>
        <p:txBody>
          <a:bodyPr>
            <a:normAutofit fontScale="90000"/>
          </a:bodyPr>
          <a:lstStyle/>
          <a:p>
            <a:endParaRPr lang="en-US" dirty="0"/>
          </a:p>
        </p:txBody>
      </p:sp>
      <p:sp>
        <p:nvSpPr>
          <p:cNvPr id="3" name="Subtitle 2"/>
          <p:cNvSpPr>
            <a:spLocks noGrp="1"/>
          </p:cNvSpPr>
          <p:nvPr>
            <p:ph type="subTitle" idx="1"/>
          </p:nvPr>
        </p:nvSpPr>
        <p:spPr>
          <a:xfrm>
            <a:off x="-152400" y="1066800"/>
            <a:ext cx="9372600" cy="5334000"/>
          </a:xfrm>
        </p:spPr>
        <p:txBody>
          <a:bodyPr/>
          <a:lstStyle/>
          <a:p>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828800"/>
            <a:ext cx="9144000" cy="4174043"/>
          </a:xfrm>
          <a:prstGeom prst="rect">
            <a:avLst/>
          </a:prstGeom>
        </p:spPr>
      </p:pic>
    </p:spTree>
    <p:extLst>
      <p:ext uri="{BB962C8B-B14F-4D97-AF65-F5344CB8AC3E}">
        <p14:creationId xmlns:p14="http://schemas.microsoft.com/office/powerpoint/2010/main" val="14297974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1"/>
            <a:ext cx="7772400" cy="838199"/>
          </a:xfrm>
        </p:spPr>
        <p:txBody>
          <a:bodyPr>
            <a:normAutofit/>
          </a:bodyPr>
          <a:lstStyle/>
          <a:p>
            <a:pPr algn="l"/>
            <a:r>
              <a:rPr lang="en-US" dirty="0">
                <a:latin typeface="+mj-lt"/>
              </a:rPr>
              <a:t>Kanban</a:t>
            </a:r>
          </a:p>
        </p:txBody>
      </p:sp>
      <p:sp>
        <p:nvSpPr>
          <p:cNvPr id="3" name="Subtitle 2"/>
          <p:cNvSpPr>
            <a:spLocks noGrp="1"/>
          </p:cNvSpPr>
          <p:nvPr>
            <p:ph type="subTitle" idx="1"/>
          </p:nvPr>
        </p:nvSpPr>
        <p:spPr>
          <a:xfrm>
            <a:off x="685800" y="1066800"/>
            <a:ext cx="7772400" cy="5638800"/>
          </a:xfrm>
        </p:spPr>
        <p:txBody>
          <a:bodyPr>
            <a:normAutofit/>
          </a:bodyPr>
          <a:lstStyle/>
          <a:p>
            <a:pPr marL="342900" indent="-342900" algn="just">
              <a:buFont typeface="Arial" panose="020B0604020202020204" pitchFamily="34" charset="0"/>
              <a:buChar char="•"/>
            </a:pPr>
            <a:r>
              <a:rPr lang="en-US" sz="2400" b="0" i="0" dirty="0">
                <a:solidFill>
                  <a:srgbClr val="091E42"/>
                </a:solidFill>
                <a:effectLst/>
              </a:rPr>
              <a:t>Kanban is a popular framework used to implement </a:t>
            </a:r>
            <a:r>
              <a:rPr lang="en-US" sz="2400" dirty="0">
                <a:solidFill>
                  <a:schemeClr val="tx1"/>
                </a:solidFill>
              </a:rPr>
              <a:t>agile</a:t>
            </a:r>
            <a:r>
              <a:rPr lang="en-US" sz="2400" b="0" i="0" dirty="0">
                <a:solidFill>
                  <a:srgbClr val="091E42"/>
                </a:solidFill>
                <a:effectLst/>
              </a:rPr>
              <a:t> and </a:t>
            </a:r>
            <a:r>
              <a:rPr lang="en-US" sz="2400" dirty="0">
                <a:solidFill>
                  <a:schemeClr val="tx1"/>
                </a:solidFill>
              </a:rPr>
              <a:t>DevOps</a:t>
            </a:r>
            <a:r>
              <a:rPr lang="en-US" sz="2400" dirty="0">
                <a:solidFill>
                  <a:srgbClr val="091E42"/>
                </a:solidFill>
              </a:rPr>
              <a:t> </a:t>
            </a:r>
            <a:r>
              <a:rPr lang="en-US" sz="2400" b="0" i="0" dirty="0">
                <a:solidFill>
                  <a:srgbClr val="091E42"/>
                </a:solidFill>
                <a:effectLst/>
              </a:rPr>
              <a:t>software development.</a:t>
            </a:r>
          </a:p>
          <a:p>
            <a:pPr algn="just"/>
            <a:endParaRPr lang="en-US" sz="2400" b="0" i="0" dirty="0">
              <a:solidFill>
                <a:srgbClr val="091E42"/>
              </a:solidFill>
              <a:effectLst/>
            </a:endParaRPr>
          </a:p>
          <a:p>
            <a:pPr marL="342900" indent="-342900" algn="just">
              <a:buFont typeface="Arial" panose="020B0604020202020204" pitchFamily="34" charset="0"/>
              <a:buChar char="•"/>
            </a:pPr>
            <a:r>
              <a:rPr lang="en-US" sz="2400" b="0" i="0" dirty="0">
                <a:solidFill>
                  <a:srgbClr val="091E42"/>
                </a:solidFill>
                <a:effectLst/>
              </a:rPr>
              <a:t> It requires real-time communication of capacity and full transparency of work.</a:t>
            </a:r>
          </a:p>
          <a:p>
            <a:pPr algn="just"/>
            <a:endParaRPr lang="en-US" sz="2400" b="0" i="0" dirty="0">
              <a:solidFill>
                <a:srgbClr val="091E42"/>
              </a:solidFill>
              <a:effectLst/>
            </a:endParaRPr>
          </a:p>
          <a:p>
            <a:pPr marL="342900" indent="-342900" algn="just">
              <a:buFont typeface="Arial" panose="020B0604020202020204" pitchFamily="34" charset="0"/>
              <a:buChar char="•"/>
            </a:pPr>
            <a:r>
              <a:rPr lang="en-US" sz="2400" b="0" i="0" dirty="0">
                <a:solidFill>
                  <a:srgbClr val="091E42"/>
                </a:solidFill>
                <a:effectLst/>
              </a:rPr>
              <a:t> Work items are represented visually on a </a:t>
            </a:r>
            <a:r>
              <a:rPr lang="en-US" sz="2400" b="0" i="0" dirty="0" err="1">
                <a:solidFill>
                  <a:srgbClr val="091E42"/>
                </a:solidFill>
                <a:effectLst/>
              </a:rPr>
              <a:t>kanban</a:t>
            </a:r>
            <a:r>
              <a:rPr lang="en-US" sz="2400" b="0" i="0" dirty="0">
                <a:solidFill>
                  <a:srgbClr val="091E42"/>
                </a:solidFill>
                <a:effectLst/>
              </a:rPr>
              <a:t> board, allowing team members to see the state of every piece of work at any time.</a:t>
            </a:r>
            <a:endParaRPr lang="en-US" sz="2400" dirty="0">
              <a:solidFill>
                <a:schemeClr val="tx1"/>
              </a:solidFill>
            </a:endParaRPr>
          </a:p>
        </p:txBody>
      </p:sp>
    </p:spTree>
    <p:extLst>
      <p:ext uri="{BB962C8B-B14F-4D97-AF65-F5344CB8AC3E}">
        <p14:creationId xmlns:p14="http://schemas.microsoft.com/office/powerpoint/2010/main" val="36970447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1"/>
            <a:ext cx="7772400" cy="838199"/>
          </a:xfrm>
        </p:spPr>
        <p:txBody>
          <a:bodyPr>
            <a:normAutofit/>
          </a:bodyPr>
          <a:lstStyle/>
          <a:p>
            <a:pPr algn="l"/>
            <a:r>
              <a:rPr lang="en-US" dirty="0">
                <a:latin typeface="+mj-lt"/>
              </a:rPr>
              <a:t>History</a:t>
            </a:r>
          </a:p>
        </p:txBody>
      </p:sp>
      <p:sp>
        <p:nvSpPr>
          <p:cNvPr id="3" name="Subtitle 2"/>
          <p:cNvSpPr>
            <a:spLocks noGrp="1"/>
          </p:cNvSpPr>
          <p:nvPr>
            <p:ph type="subTitle" idx="1"/>
          </p:nvPr>
        </p:nvSpPr>
        <p:spPr>
          <a:xfrm>
            <a:off x="685800" y="1066800"/>
            <a:ext cx="7772400" cy="5638800"/>
          </a:xfrm>
        </p:spPr>
        <p:txBody>
          <a:bodyPr>
            <a:normAutofit lnSpcReduction="10000"/>
          </a:bodyPr>
          <a:lstStyle/>
          <a:p>
            <a:pPr marL="342900" indent="-342900" algn="just">
              <a:buFont typeface="Arial" panose="020B0604020202020204" pitchFamily="34" charset="0"/>
              <a:buChar char="•"/>
            </a:pPr>
            <a:r>
              <a:rPr lang="en-US" sz="2400" b="0" i="0" dirty="0">
                <a:solidFill>
                  <a:schemeClr val="tx1"/>
                </a:solidFill>
                <a:effectLst/>
              </a:rPr>
              <a:t>Kanban is enormously prominent among today's agile and DevOps software teams, but the </a:t>
            </a:r>
            <a:r>
              <a:rPr lang="en-US" sz="2400" b="0" i="0" dirty="0" err="1">
                <a:solidFill>
                  <a:schemeClr val="tx1"/>
                </a:solidFill>
                <a:effectLst/>
              </a:rPr>
              <a:t>kanban</a:t>
            </a:r>
            <a:r>
              <a:rPr lang="en-US" sz="2400" b="0" i="0" dirty="0">
                <a:solidFill>
                  <a:schemeClr val="tx1"/>
                </a:solidFill>
                <a:effectLst/>
              </a:rPr>
              <a:t> methodology of work dates back more than 50 years. </a:t>
            </a:r>
          </a:p>
          <a:p>
            <a:pPr marL="342900" indent="-342900" algn="just">
              <a:buFont typeface="Arial" panose="020B0604020202020204" pitchFamily="34" charset="0"/>
              <a:buChar char="•"/>
            </a:pPr>
            <a:r>
              <a:rPr lang="en-US" sz="2400" b="0" i="0" dirty="0">
                <a:solidFill>
                  <a:schemeClr val="tx1"/>
                </a:solidFill>
                <a:effectLst/>
              </a:rPr>
              <a:t>In the late 1940s Toyota began optimizing its engineering processes based on the same model that supermarkets were using to stock their shelves. </a:t>
            </a:r>
          </a:p>
          <a:p>
            <a:pPr marL="342900" indent="-342900" algn="just">
              <a:buFont typeface="Arial" panose="020B0604020202020204" pitchFamily="34" charset="0"/>
              <a:buChar char="•"/>
            </a:pPr>
            <a:r>
              <a:rPr lang="en-US" sz="2400" b="0" i="0" dirty="0">
                <a:solidFill>
                  <a:schemeClr val="tx1"/>
                </a:solidFill>
                <a:effectLst/>
              </a:rPr>
              <a:t>Supermarkets stock just enough product to meet consumer demand, a practice that optimizes the flow between the supermarket and the consumer.</a:t>
            </a:r>
          </a:p>
          <a:p>
            <a:pPr marL="342900" indent="-342900" algn="just">
              <a:buFont typeface="Arial" panose="020B0604020202020204" pitchFamily="34" charset="0"/>
              <a:buChar char="•"/>
            </a:pPr>
            <a:r>
              <a:rPr lang="en-US" sz="2400" b="0" i="0" dirty="0">
                <a:solidFill>
                  <a:schemeClr val="tx1"/>
                </a:solidFill>
                <a:effectLst/>
              </a:rPr>
              <a:t> Because inventory levels match consumption patterns, the supermarket gains significant efficiency in inventory management by decreasing the amount of excess stock it must hold at any given time. </a:t>
            </a:r>
          </a:p>
          <a:p>
            <a:pPr marL="342900" indent="-342900" algn="just">
              <a:buFont typeface="Arial" panose="020B0604020202020204" pitchFamily="34" charset="0"/>
              <a:buChar char="•"/>
            </a:pPr>
            <a:r>
              <a:rPr lang="en-US" sz="2400" b="0" i="0" dirty="0">
                <a:solidFill>
                  <a:schemeClr val="tx1"/>
                </a:solidFill>
                <a:effectLst/>
              </a:rPr>
              <a:t>Meanwhile, the supermarket can still ensure that the given product a consumer needs is always in stock.</a:t>
            </a:r>
            <a:endParaRPr lang="en-US" sz="2400" dirty="0">
              <a:solidFill>
                <a:schemeClr val="tx1"/>
              </a:solidFill>
            </a:endParaRPr>
          </a:p>
        </p:txBody>
      </p:sp>
    </p:spTree>
    <p:extLst>
      <p:ext uri="{BB962C8B-B14F-4D97-AF65-F5344CB8AC3E}">
        <p14:creationId xmlns:p14="http://schemas.microsoft.com/office/powerpoint/2010/main" val="39667988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1"/>
            <a:ext cx="7772400" cy="838199"/>
          </a:xfrm>
        </p:spPr>
        <p:txBody>
          <a:bodyPr>
            <a:normAutofit/>
          </a:bodyPr>
          <a:lstStyle/>
          <a:p>
            <a:pPr algn="l"/>
            <a:r>
              <a:rPr lang="en-US" dirty="0">
                <a:latin typeface="+mj-lt"/>
              </a:rPr>
              <a:t>Kanban</a:t>
            </a:r>
          </a:p>
        </p:txBody>
      </p:sp>
      <p:sp>
        <p:nvSpPr>
          <p:cNvPr id="3" name="Subtitle 2"/>
          <p:cNvSpPr>
            <a:spLocks noGrp="1"/>
          </p:cNvSpPr>
          <p:nvPr>
            <p:ph type="subTitle" idx="1"/>
          </p:nvPr>
        </p:nvSpPr>
        <p:spPr>
          <a:xfrm>
            <a:off x="685800" y="1066800"/>
            <a:ext cx="7772400" cy="5638800"/>
          </a:xfrm>
        </p:spPr>
        <p:txBody>
          <a:bodyPr>
            <a:normAutofit/>
          </a:bodyPr>
          <a:lstStyle/>
          <a:p>
            <a:pPr marL="342900" indent="-342900" algn="l">
              <a:buFont typeface="Arial" panose="020B0604020202020204" pitchFamily="34" charset="0"/>
              <a:buChar char="•"/>
            </a:pPr>
            <a:r>
              <a:rPr lang="en-US" sz="2400" dirty="0">
                <a:solidFill>
                  <a:schemeClr val="tx1"/>
                </a:solidFill>
                <a:latin typeface="+mj-lt"/>
              </a:rPr>
              <a:t>Agile software development teams </a:t>
            </a:r>
            <a:r>
              <a:rPr lang="en-US" sz="1400" b="0" i="0" dirty="0">
                <a:solidFill>
                  <a:srgbClr val="091E42"/>
                </a:solidFill>
                <a:effectLst/>
                <a:latin typeface="Charlie Text"/>
              </a:rPr>
              <a:t>today are able to leverage these same JIT principles by matching the amount of work in progress (WIP) to the team's capacity. This gives teams more flexible planning options, faster output, clearer focus, and transparency throughout the development cycle.</a:t>
            </a:r>
          </a:p>
          <a:p>
            <a:pPr marL="342900" indent="-342900" algn="l">
              <a:buFont typeface="Arial" panose="020B0604020202020204" pitchFamily="34" charset="0"/>
              <a:buChar char="•"/>
            </a:pPr>
            <a:endParaRPr lang="en-US" sz="2400" dirty="0">
              <a:solidFill>
                <a:schemeClr val="tx1"/>
              </a:solidFill>
              <a:latin typeface="+mj-lt"/>
            </a:endParaRPr>
          </a:p>
        </p:txBody>
      </p:sp>
      <p:pic>
        <p:nvPicPr>
          <p:cNvPr id="5" name="Picture 4">
            <a:extLst>
              <a:ext uri="{FF2B5EF4-FFF2-40B4-BE49-F238E27FC236}">
                <a16:creationId xmlns:a16="http://schemas.microsoft.com/office/drawing/2014/main" id="{B9F82DAE-9A0D-4F0E-A597-E6D24D29D183}"/>
              </a:ext>
            </a:extLst>
          </p:cNvPr>
          <p:cNvPicPr>
            <a:picLocks noChangeAspect="1"/>
          </p:cNvPicPr>
          <p:nvPr/>
        </p:nvPicPr>
        <p:blipFill>
          <a:blip r:embed="rId2"/>
          <a:stretch>
            <a:fillRect/>
          </a:stretch>
        </p:blipFill>
        <p:spPr>
          <a:xfrm>
            <a:off x="1066800" y="2521015"/>
            <a:ext cx="6858000" cy="3267075"/>
          </a:xfrm>
          <a:prstGeom prst="rect">
            <a:avLst/>
          </a:prstGeom>
        </p:spPr>
      </p:pic>
      <p:sp>
        <p:nvSpPr>
          <p:cNvPr id="6" name="TextBox 5">
            <a:extLst>
              <a:ext uri="{FF2B5EF4-FFF2-40B4-BE49-F238E27FC236}">
                <a16:creationId xmlns:a16="http://schemas.microsoft.com/office/drawing/2014/main" id="{4C118C96-ACF6-4E70-AFCF-4D0755ED09F9}"/>
              </a:ext>
            </a:extLst>
          </p:cNvPr>
          <p:cNvSpPr txBox="1"/>
          <p:nvPr/>
        </p:nvSpPr>
        <p:spPr>
          <a:xfrm>
            <a:off x="3124200" y="5943600"/>
            <a:ext cx="2819400" cy="338554"/>
          </a:xfrm>
          <a:prstGeom prst="rect">
            <a:avLst/>
          </a:prstGeom>
          <a:noFill/>
        </p:spPr>
        <p:txBody>
          <a:bodyPr wrap="square" rtlCol="0">
            <a:spAutoFit/>
          </a:bodyPr>
          <a:lstStyle/>
          <a:p>
            <a:pPr algn="ctr"/>
            <a:r>
              <a:rPr lang="en-IN" sz="1600" dirty="0"/>
              <a:t>Kanban Board</a:t>
            </a:r>
          </a:p>
        </p:txBody>
      </p:sp>
    </p:spTree>
    <p:extLst>
      <p:ext uri="{BB962C8B-B14F-4D97-AF65-F5344CB8AC3E}">
        <p14:creationId xmlns:p14="http://schemas.microsoft.com/office/powerpoint/2010/main" val="4694692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1"/>
            <a:ext cx="7772400" cy="838199"/>
          </a:xfrm>
        </p:spPr>
        <p:txBody>
          <a:bodyPr>
            <a:normAutofit/>
          </a:bodyPr>
          <a:lstStyle/>
          <a:p>
            <a:pPr algn="l"/>
            <a:r>
              <a:rPr lang="en-US" dirty="0">
                <a:latin typeface="+mj-lt"/>
              </a:rPr>
              <a:t>Kanban Board</a:t>
            </a:r>
          </a:p>
        </p:txBody>
      </p:sp>
      <p:sp>
        <p:nvSpPr>
          <p:cNvPr id="3" name="Subtitle 2"/>
          <p:cNvSpPr>
            <a:spLocks noGrp="1"/>
          </p:cNvSpPr>
          <p:nvPr>
            <p:ph type="subTitle" idx="1"/>
          </p:nvPr>
        </p:nvSpPr>
        <p:spPr>
          <a:xfrm>
            <a:off x="685800" y="1066800"/>
            <a:ext cx="7772400" cy="5638800"/>
          </a:xfrm>
        </p:spPr>
        <p:txBody>
          <a:bodyPr>
            <a:normAutofit/>
          </a:bodyPr>
          <a:lstStyle/>
          <a:p>
            <a:pPr marL="342900" indent="-342900" algn="just">
              <a:buFont typeface="Arial" panose="020B0604020202020204" pitchFamily="34" charset="0"/>
              <a:buChar char="•"/>
            </a:pPr>
            <a:endParaRPr lang="en-US" sz="2400" b="0" i="0" dirty="0">
              <a:solidFill>
                <a:schemeClr val="tx1"/>
              </a:solidFill>
              <a:effectLst/>
            </a:endParaRPr>
          </a:p>
          <a:p>
            <a:pPr marL="342900" indent="-342900" algn="just">
              <a:buFont typeface="Arial" panose="020B0604020202020204" pitchFamily="34" charset="0"/>
              <a:buChar char="•"/>
            </a:pPr>
            <a:r>
              <a:rPr lang="en-US" sz="2400" b="0" i="0" dirty="0">
                <a:solidFill>
                  <a:schemeClr val="tx1"/>
                </a:solidFill>
                <a:effectLst/>
              </a:rPr>
              <a:t>The work of all </a:t>
            </a:r>
            <a:r>
              <a:rPr lang="en-US" sz="2400" b="0" i="0" dirty="0" err="1">
                <a:solidFill>
                  <a:schemeClr val="tx1"/>
                </a:solidFill>
                <a:effectLst/>
              </a:rPr>
              <a:t>kanban</a:t>
            </a:r>
            <a:r>
              <a:rPr lang="en-US" sz="2400" b="0" i="0" dirty="0">
                <a:solidFill>
                  <a:schemeClr val="tx1"/>
                </a:solidFill>
                <a:effectLst/>
              </a:rPr>
              <a:t> teams revolves around a </a:t>
            </a:r>
            <a:r>
              <a:rPr lang="en-US" sz="2400" dirty="0" err="1">
                <a:solidFill>
                  <a:schemeClr val="tx1"/>
                </a:solidFill>
              </a:rPr>
              <a:t>kanban</a:t>
            </a:r>
            <a:r>
              <a:rPr lang="en-US" sz="2400" dirty="0">
                <a:solidFill>
                  <a:schemeClr val="tx1"/>
                </a:solidFill>
              </a:rPr>
              <a:t> board</a:t>
            </a:r>
            <a:r>
              <a:rPr lang="en-US" sz="2400" b="0" i="0" dirty="0">
                <a:solidFill>
                  <a:srgbClr val="091E42"/>
                </a:solidFill>
                <a:effectLst/>
              </a:rPr>
              <a:t>, a tool used to visualize work and optimize the flow of the work among the team. </a:t>
            </a:r>
          </a:p>
          <a:p>
            <a:pPr marL="342900" indent="-342900" algn="just">
              <a:buFont typeface="Arial" panose="020B0604020202020204" pitchFamily="34" charset="0"/>
              <a:buChar char="•"/>
            </a:pPr>
            <a:r>
              <a:rPr lang="en-US" sz="2400" b="0" i="0" dirty="0">
                <a:solidFill>
                  <a:srgbClr val="091E42"/>
                </a:solidFill>
                <a:effectLst/>
              </a:rPr>
              <a:t>While physical boards are popular among some teams, virtual boards are a crucial feature in any agile software development tool for their traceability, easier collaboration, and accessibility from multiple locations.</a:t>
            </a:r>
          </a:p>
          <a:p>
            <a:pPr marL="342900" indent="-342900" algn="just">
              <a:buFont typeface="Arial" panose="020B0604020202020204" pitchFamily="34" charset="0"/>
              <a:buChar char="•"/>
            </a:pPr>
            <a:r>
              <a:rPr lang="en-US" sz="2400" b="0" i="0" dirty="0">
                <a:solidFill>
                  <a:srgbClr val="091E42"/>
                </a:solidFill>
                <a:effectLst/>
              </a:rPr>
              <a:t>The </a:t>
            </a:r>
            <a:r>
              <a:rPr lang="en-US" sz="2400" b="0" i="0" dirty="0" err="1">
                <a:solidFill>
                  <a:srgbClr val="091E42"/>
                </a:solidFill>
                <a:effectLst/>
              </a:rPr>
              <a:t>kanban</a:t>
            </a:r>
            <a:r>
              <a:rPr lang="en-US" sz="2400" b="0" i="0" dirty="0">
                <a:solidFill>
                  <a:srgbClr val="091E42"/>
                </a:solidFill>
                <a:effectLst/>
              </a:rPr>
              <a:t> methodology relies upon full transparency of work and real-time communication of capacity, therefore the </a:t>
            </a:r>
            <a:r>
              <a:rPr lang="en-US" sz="2400" b="0" i="0" dirty="0" err="1">
                <a:solidFill>
                  <a:srgbClr val="091E42"/>
                </a:solidFill>
                <a:effectLst/>
              </a:rPr>
              <a:t>kanban</a:t>
            </a:r>
            <a:r>
              <a:rPr lang="en-US" sz="2400" b="0" i="0" dirty="0">
                <a:solidFill>
                  <a:srgbClr val="091E42"/>
                </a:solidFill>
                <a:effectLst/>
              </a:rPr>
              <a:t> board should be seen as the single source of truth for the team's work.</a:t>
            </a:r>
            <a:endParaRPr lang="en-US" sz="2400" dirty="0">
              <a:solidFill>
                <a:schemeClr val="tx1"/>
              </a:solidFill>
            </a:endParaRPr>
          </a:p>
        </p:txBody>
      </p:sp>
    </p:spTree>
    <p:extLst>
      <p:ext uri="{BB962C8B-B14F-4D97-AF65-F5344CB8AC3E}">
        <p14:creationId xmlns:p14="http://schemas.microsoft.com/office/powerpoint/2010/main" val="10096862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1"/>
            <a:ext cx="7772400" cy="838199"/>
          </a:xfrm>
        </p:spPr>
        <p:txBody>
          <a:bodyPr>
            <a:normAutofit/>
          </a:bodyPr>
          <a:lstStyle/>
          <a:p>
            <a:pPr algn="l"/>
            <a:r>
              <a:rPr lang="en-US" dirty="0">
                <a:latin typeface="+mj-lt"/>
              </a:rPr>
              <a:t>Kanban </a:t>
            </a:r>
          </a:p>
        </p:txBody>
      </p:sp>
      <p:sp>
        <p:nvSpPr>
          <p:cNvPr id="3" name="Subtitle 2"/>
          <p:cNvSpPr>
            <a:spLocks noGrp="1"/>
          </p:cNvSpPr>
          <p:nvPr>
            <p:ph type="subTitle" idx="1"/>
          </p:nvPr>
        </p:nvSpPr>
        <p:spPr>
          <a:xfrm>
            <a:off x="685800" y="1066800"/>
            <a:ext cx="7772400" cy="5638800"/>
          </a:xfrm>
        </p:spPr>
        <p:txBody>
          <a:bodyPr>
            <a:normAutofit/>
          </a:bodyPr>
          <a:lstStyle/>
          <a:p>
            <a:pPr marL="342900" indent="-342900" algn="just">
              <a:buFont typeface="Arial" panose="020B0604020202020204" pitchFamily="34" charset="0"/>
              <a:buChar char="•"/>
            </a:pPr>
            <a:r>
              <a:rPr lang="en-US" sz="2400" dirty="0">
                <a:solidFill>
                  <a:schemeClr val="tx1"/>
                </a:solidFill>
              </a:rPr>
              <a:t>Limit Work in Progress</a:t>
            </a:r>
            <a:endParaRPr lang="en-US" sz="2400" b="0" i="0" dirty="0">
              <a:solidFill>
                <a:schemeClr val="tx1"/>
              </a:solidFill>
              <a:effectLst/>
            </a:endParaRPr>
          </a:p>
        </p:txBody>
      </p:sp>
      <p:pic>
        <p:nvPicPr>
          <p:cNvPr id="5" name="Picture 4">
            <a:extLst>
              <a:ext uri="{FF2B5EF4-FFF2-40B4-BE49-F238E27FC236}">
                <a16:creationId xmlns:a16="http://schemas.microsoft.com/office/drawing/2014/main" id="{AED201EF-D7C0-4B75-9366-FAE176AFC395}"/>
              </a:ext>
            </a:extLst>
          </p:cNvPr>
          <p:cNvPicPr>
            <a:picLocks noChangeAspect="1"/>
          </p:cNvPicPr>
          <p:nvPr/>
        </p:nvPicPr>
        <p:blipFill>
          <a:blip r:embed="rId2"/>
          <a:stretch>
            <a:fillRect/>
          </a:stretch>
        </p:blipFill>
        <p:spPr>
          <a:xfrm>
            <a:off x="1138237" y="1519237"/>
            <a:ext cx="6867525" cy="3819525"/>
          </a:xfrm>
          <a:prstGeom prst="rect">
            <a:avLst/>
          </a:prstGeom>
        </p:spPr>
      </p:pic>
    </p:spTree>
    <p:extLst>
      <p:ext uri="{BB962C8B-B14F-4D97-AF65-F5344CB8AC3E}">
        <p14:creationId xmlns:p14="http://schemas.microsoft.com/office/powerpoint/2010/main" val="33634593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9407</TotalTime>
  <Words>2468</Words>
  <Application>Microsoft Office PowerPoint</Application>
  <PresentationFormat>On-screen Show (4:3)</PresentationFormat>
  <Paragraphs>354</Paragraphs>
  <Slides>47</Slides>
  <Notes>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47</vt:i4>
      </vt:variant>
    </vt:vector>
  </HeadingPairs>
  <TitlesOfParts>
    <vt:vector size="58" baseType="lpstr">
      <vt:lpstr>Arial</vt:lpstr>
      <vt:lpstr>Calibri</vt:lpstr>
      <vt:lpstr>Charlie Text</vt:lpstr>
      <vt:lpstr>Courier New</vt:lpstr>
      <vt:lpstr>Open Sans Extrabold</vt:lpstr>
      <vt:lpstr>Raleway</vt:lpstr>
      <vt:lpstr>Times New Roman</vt:lpstr>
      <vt:lpstr>TTNormsPro-Bold</vt:lpstr>
      <vt:lpstr>TTNormsPro-Regular</vt:lpstr>
      <vt:lpstr>Wingdings</vt:lpstr>
      <vt:lpstr>Office Theme</vt:lpstr>
      <vt:lpstr>Unit-2 Agile Development</vt:lpstr>
      <vt:lpstr>Outlines</vt:lpstr>
      <vt:lpstr>What is Agility?</vt:lpstr>
      <vt:lpstr>What is Agility? (Cont…)</vt:lpstr>
      <vt:lpstr>What is Agility? (Cont…)</vt:lpstr>
      <vt:lpstr>What is Agility? (Cont…)</vt:lpstr>
      <vt:lpstr>Principles to achieve agility</vt:lpstr>
      <vt:lpstr>Agile Software Process</vt:lpstr>
      <vt:lpstr>Agile Process Models</vt:lpstr>
      <vt:lpstr>1. Extreme Programming (XP)</vt:lpstr>
      <vt:lpstr>Extreme Programming (XP) (Cont…)</vt:lpstr>
      <vt:lpstr>i.  XP - Planning</vt:lpstr>
      <vt:lpstr>ii.  XP - Design</vt:lpstr>
      <vt:lpstr>iii.  XP - Coding</vt:lpstr>
      <vt:lpstr>iv.  XP - Testing</vt:lpstr>
      <vt:lpstr>2. Adaptive Software Development (ASD)</vt:lpstr>
      <vt:lpstr>Adaptive Software Development (ASD)</vt:lpstr>
      <vt:lpstr>Speculation</vt:lpstr>
      <vt:lpstr>Collaboration</vt:lpstr>
      <vt:lpstr>Learning</vt:lpstr>
      <vt:lpstr>DSDM</vt:lpstr>
      <vt:lpstr>3. Dynamic Systems Development Methods (DSDM)</vt:lpstr>
      <vt:lpstr>3. Dynamic Systems Development Methods (DSDM)</vt:lpstr>
      <vt:lpstr>4. Scrum</vt:lpstr>
      <vt:lpstr>Scrum Principles</vt:lpstr>
      <vt:lpstr>Scrum Development Activities</vt:lpstr>
      <vt:lpstr>Scrum Development Activities</vt:lpstr>
      <vt:lpstr>Roles (Scrum)</vt:lpstr>
      <vt:lpstr>Roles (Scrum)</vt:lpstr>
      <vt:lpstr>Roles (Scrum)</vt:lpstr>
      <vt:lpstr>4. Scrum</vt:lpstr>
      <vt:lpstr>5. Feature Driven Development (FDD)</vt:lpstr>
      <vt:lpstr>Feature Driven Development (FDD)</vt:lpstr>
      <vt:lpstr>Feature Driven Development (FDD)</vt:lpstr>
      <vt:lpstr>Crystal</vt:lpstr>
      <vt:lpstr>6. Crystal</vt:lpstr>
      <vt:lpstr>6. Crystal</vt:lpstr>
      <vt:lpstr>6. Crystal</vt:lpstr>
      <vt:lpstr>5. Large Scale Scrum(LeSS)</vt:lpstr>
      <vt:lpstr>LeSS Principles:-</vt:lpstr>
      <vt:lpstr>LeSS Framework</vt:lpstr>
      <vt:lpstr>PowerPoint Presentation</vt:lpstr>
      <vt:lpstr>Kanban</vt:lpstr>
      <vt:lpstr>History</vt:lpstr>
      <vt:lpstr>Kanban</vt:lpstr>
      <vt:lpstr>Kanban Board</vt:lpstr>
      <vt:lpstr>Kanban </vt:lpstr>
    </vt:vector>
  </TitlesOfParts>
  <Company>Darshan Institute of Engg. &amp; 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W5 of Computer Engineering (Why, What, When, Where, How)</dc:title>
  <dc:creator>Krishna</dc:creator>
  <cp:lastModifiedBy>Supreet Kaur</cp:lastModifiedBy>
  <cp:revision>1094</cp:revision>
  <dcterms:created xsi:type="dcterms:W3CDTF">2013-05-17T03:00:03Z</dcterms:created>
  <dcterms:modified xsi:type="dcterms:W3CDTF">2021-01-02T06:21:40Z</dcterms:modified>
</cp:coreProperties>
</file>